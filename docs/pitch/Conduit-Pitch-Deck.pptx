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Conduit is a programmable rail between Turkish lira and Stellar. The idea is simple: money arrives, follows a rule you chose, and stays under your control. Our strongest implementation is delegated portfolio allocation. You authorize its limits at setup; the contract checks every subsequent swap. Today, this is a testnet prototype with simulated bank transfers.
Sources / preparation notes:
README.md: introduction, Status and limitations. Scale track is recorded in the README. The cover describes the product direction; the mandate guarantee applies to delegated portfolio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user can say: allocate forty percent to XLM, thirty percent to AQUA, and leave the rest in USDC. They approve the token allowance and set a mandate during setup. The delegate then requests swaps, but the contract enforces the allowed assets, spending cap, price bounds and expiry. Proceeds return to the owner. The delegate cannot choose another recipient. This limits its authority, although unwanted trades within those limits can still cost fees and slippage. The owner can revoke the mandate.
Sources / preparation notes:
contracts/mandate/src/lib.rs: set_mandate, execute, revoke; src/app/page.tsx: mandateApplies; src/lib/automation.ts: portfolio execution. The allowance and mandate are separate setup transactions, so do not claim a single signature for the whole onboarding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freelancer managing income across Turkish lira and USDC. They want the same allocation each time money arrives, without repeating the same wallet actions. For illustration, one hundred USDC could be split forty percent into XLM, thirty percent into AQUA, and thirty percent left in USDC. This is an example rule, not a recommended investment. Our hypothesis is that bounded automation makes recurring allocation useful enough to repeat. The next validation step is user interviews and a small pilot measuring setup completion and repeat use. We are not claiming proven product-market fit.
Sources / preparation notes:
README.md: The problem and What it does; src/lib/ai/strategy.ts. Audience and pilot metrics are proposed positioning and validation steps, not measured adoption. No market-size, customer, revenue or savings figures are asserted.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anchor handles authentication, customer details, a quote, and the simulated TRY deposit. USDC arrives in the owner’s wallet. A browser watcher detects the payment and requests portfolio swaps through our Soroban mandate contract. Each allocation executes as one atomic pull, swap and return: if it fails, that transaction reverts. Stellar supplies the anchor standards and programmable settlement that connect these steps. The current watcher needs an open tab. Buy-and-sell mode uses a separately funded automation wallet; it does not have the same mandate protection. Next are background execution, per-asset bounds and a production anchor integration.
Sources / preparation notes:
README.md: Stellar integration, Status and limitations, Roadmap; contracts/mandate/src/lib.rs: execute; src/app/page.tsx: mandateApplies; src/lib/automation.ts: POLL_INTERVAL_MS. Multiple allocations are separate transactions. The contract also enforces configured price bounds. Production anchor support has not been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Murat Keskin, the project author. Conduit brings together the product interface, Stellar anchor integration and a custom Soroban mandate contract. The repository includes seventeen contract test cases covering behaviors such as spending limits, expiry, revocation and owner isolation. The next milestone is validating recurring use with users and integrating a production anchor. You can explore the testnet demo and source from the links on this slide. Conduit: your money, your rules.
Sources / preparation notes:
Name is sourced from package.json author metadata; development role is inferred from project ownership and should be confirmed before presenting. No biography, employer, awards or adoption claims are added. Initials substitute for a team photo because none was provided. 17 #[test] cases are present in contracts/mandate/src/test.rs; tests were not rerun for this presentation. Demo URL is recorded in README.md, not availability-verified.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conduit-psi-three.vercel.app" TargetMode="External"/><Relationship Id="rId3" Type="http://schemas.openxmlformats.org/officeDocument/2006/relationships/hyperlink" Target="https://github.com/murat48/conduit" TargetMode="External"/><Relationship Id="rId1"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7E2D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7E2D6"/>
          </a:solidFill>
          <a:ln w="12700">
            <a:solidFill>
              <a:srgbClr val="E7E2D6"/>
            </a:solidFill>
            <a:prstDash val="solid"/>
          </a:ln>
        </p:spPr>
      </p:sp>
      <p:pic>
        <p:nvPicPr>
          <p:cNvPr id="3" name="Image 0" descr="/home/murat/conduit/docs/pitch/assets/template-paper.png">    </p:cNvPr>
          <p:cNvPicPr>
            <a:picLocks noChangeAspect="1"/>
          </p:cNvPicPr>
          <p:nvPr/>
        </p:nvPicPr>
        <p:blipFill>
          <a:blip r:embed="rId1"/>
          <a:stretch>
            <a:fillRect/>
          </a:stretch>
        </p:blipFill>
        <p:spPr>
          <a:xfrm>
            <a:off x="0" y="0"/>
            <a:ext cx="12192000" cy="6858000"/>
          </a:xfrm>
          <a:prstGeom prst="rect">
            <a:avLst/>
          </a:prstGeom>
        </p:spPr>
      </p:pic>
      <p:sp>
        <p:nvSpPr>
          <p:cNvPr id="4" name="Text 1"/>
          <p:cNvSpPr/>
          <p:nvPr/>
        </p:nvSpPr>
        <p:spPr>
          <a:xfrm>
            <a:off x="541867" y="262467"/>
            <a:ext cx="2540000" cy="220980"/>
          </a:xfrm>
          <a:prstGeom prst="rect">
            <a:avLst/>
          </a:prstGeom>
          <a:noFill/>
          <a:ln/>
        </p:spPr>
        <p:txBody>
          <a:bodyPr wrap="square" lIns="0" tIns="0" rIns="0" bIns="0" rtlCol="0" anchor="t"/>
          <a:lstStyle/>
          <a:p>
            <a:pPr algn="l" indent="0" marL="0">
              <a:buNone/>
            </a:pPr>
            <a:r>
              <a:rPr lang="en-US" sz="1200" b="1" dirty="0">
                <a:solidFill>
                  <a:srgbClr val="1A1815"/>
                </a:solidFill>
                <a:latin typeface="DejaVu Sans" pitchFamily="34" charset="0"/>
                <a:ea typeface="DejaVu Sans" pitchFamily="34" charset="-122"/>
                <a:cs typeface="DejaVu Sans" pitchFamily="34" charset="-120"/>
              </a:rPr>
              <a:t>CONDUIT</a:t>
            </a:r>
            <a:endParaRPr lang="en-US" sz="1200" dirty="0"/>
          </a:p>
        </p:txBody>
      </p:sp>
      <p:sp>
        <p:nvSpPr>
          <p:cNvPr id="5" name="Text 2"/>
          <p:cNvSpPr/>
          <p:nvPr/>
        </p:nvSpPr>
        <p:spPr>
          <a:xfrm>
            <a:off x="7450667" y="279400"/>
            <a:ext cx="4199467" cy="196427"/>
          </a:xfrm>
          <a:prstGeom prst="rect">
            <a:avLst/>
          </a:prstGeom>
          <a:noFill/>
          <a:ln/>
        </p:spPr>
        <p:txBody>
          <a:bodyPr wrap="square" lIns="0" tIns="0" rIns="0" bIns="0" rtlCol="0" anchor="t"/>
          <a:lstStyle/>
          <a:p>
            <a:pPr algn="r" indent="0" marL="0">
              <a:buNone/>
            </a:pPr>
            <a:r>
              <a:rPr lang="en-US" sz="1067" dirty="0">
                <a:solidFill>
                  <a:srgbClr val="1A1815"/>
                </a:solidFill>
                <a:latin typeface="DejaVu Sans" pitchFamily="34" charset="0"/>
                <a:ea typeface="DejaVu Sans" pitchFamily="34" charset="-122"/>
                <a:cs typeface="DejaVu Sans" pitchFamily="34" charset="-120"/>
              </a:rPr>
              <a:t>BUILD ON STELLAR  /  HACKATHON</a:t>
            </a:r>
            <a:endParaRPr lang="en-US" sz="1067" dirty="0"/>
          </a:p>
        </p:txBody>
      </p:sp>
      <p:sp>
        <p:nvSpPr>
          <p:cNvPr id="6" name="Shape 3"/>
          <p:cNvSpPr/>
          <p:nvPr/>
        </p:nvSpPr>
        <p:spPr>
          <a:xfrm>
            <a:off x="541867" y="6316133"/>
            <a:ext cx="11108267" cy="0"/>
          </a:xfrm>
          <a:prstGeom prst="line">
            <a:avLst/>
          </a:prstGeom>
          <a:noFill/>
          <a:ln w="6773">
            <a:solidFill>
              <a:srgbClr val="5C574E"/>
            </a:solidFill>
            <a:prstDash val="solid"/>
          </a:ln>
        </p:spPr>
      </p:sp>
      <p:sp>
        <p:nvSpPr>
          <p:cNvPr id="7" name="Text 4"/>
          <p:cNvSpPr/>
          <p:nvPr/>
        </p:nvSpPr>
        <p:spPr>
          <a:xfrm>
            <a:off x="541867" y="6468533"/>
            <a:ext cx="5503333" cy="171873"/>
          </a:xfrm>
          <a:prstGeom prst="rect">
            <a:avLst/>
          </a:prstGeom>
          <a:noFill/>
          <a:ln/>
        </p:spPr>
        <p:txBody>
          <a:bodyPr wrap="square" lIns="0" tIns="0" rIns="0" bIns="0" rtlCol="0" anchor="t"/>
          <a:lstStyle/>
          <a:p>
            <a:pPr algn="l" indent="0" marL="0">
              <a:buNone/>
            </a:pPr>
            <a:r>
              <a:rPr lang="en-US" sz="933" dirty="0">
                <a:solidFill>
                  <a:srgbClr val="5C574E"/>
                </a:solidFill>
                <a:latin typeface="DejaVu Sans" pitchFamily="34" charset="0"/>
                <a:ea typeface="DejaVu Sans" pitchFamily="34" charset="-122"/>
                <a:cs typeface="DejaVu Sans" pitchFamily="34" charset="-120"/>
              </a:rPr>
              <a:t>A PROGRAMMABLE TRY–STELLAR RAIL</a:t>
            </a:r>
            <a:endParaRPr lang="en-US" sz="933" dirty="0"/>
          </a:p>
        </p:txBody>
      </p:sp>
      <p:sp>
        <p:nvSpPr>
          <p:cNvPr id="8" name="Text 5"/>
          <p:cNvSpPr/>
          <p:nvPr/>
        </p:nvSpPr>
        <p:spPr>
          <a:xfrm>
            <a:off x="8940800" y="6468533"/>
            <a:ext cx="2709333" cy="171873"/>
          </a:xfrm>
          <a:prstGeom prst="rect">
            <a:avLst/>
          </a:prstGeom>
          <a:noFill/>
          <a:ln/>
        </p:spPr>
        <p:txBody>
          <a:bodyPr wrap="square" lIns="0" tIns="0" rIns="0" bIns="0" rtlCol="0" anchor="t"/>
          <a:lstStyle/>
          <a:p>
            <a:pPr algn="r" indent="0" marL="0">
              <a:buNone/>
            </a:pPr>
            <a:r>
              <a:rPr lang="en-US" sz="933" dirty="0">
                <a:solidFill>
                  <a:srgbClr val="5C574E"/>
                </a:solidFill>
                <a:latin typeface="DejaVu Sans" pitchFamily="34" charset="0"/>
                <a:ea typeface="DejaVu Sans" pitchFamily="34" charset="-122"/>
                <a:cs typeface="DejaVu Sans" pitchFamily="34" charset="-120"/>
              </a:rPr>
              <a:t>STELLAR TESTNET   /   01</a:t>
            </a:r>
            <a:endParaRPr lang="en-US" sz="933" dirty="0"/>
          </a:p>
        </p:txBody>
      </p:sp>
      <p:sp>
        <p:nvSpPr>
          <p:cNvPr id="9" name="Shape 6"/>
          <p:cNvSpPr/>
          <p:nvPr/>
        </p:nvSpPr>
        <p:spPr>
          <a:xfrm>
            <a:off x="541867" y="948267"/>
            <a:ext cx="3403600" cy="270933"/>
          </a:xfrm>
          <a:prstGeom prst="rect">
            <a:avLst/>
          </a:prstGeom>
          <a:solidFill>
            <a:srgbClr val="1A1815"/>
          </a:solidFill>
          <a:ln w="12700">
            <a:solidFill>
              <a:srgbClr val="1A1815"/>
            </a:solidFill>
            <a:prstDash val="solid"/>
          </a:ln>
        </p:spPr>
      </p:sp>
      <p:sp>
        <p:nvSpPr>
          <p:cNvPr id="10" name="Text 7"/>
          <p:cNvSpPr/>
          <p:nvPr/>
        </p:nvSpPr>
        <p:spPr>
          <a:xfrm>
            <a:off x="643467" y="982133"/>
            <a:ext cx="3200400" cy="196427"/>
          </a:xfrm>
          <a:prstGeom prst="rect">
            <a:avLst/>
          </a:prstGeom>
          <a:noFill/>
          <a:ln/>
        </p:spPr>
        <p:txBody>
          <a:bodyPr wrap="square" lIns="0" tIns="0" rIns="0" bIns="0" rtlCol="0" anchor="t"/>
          <a:lstStyle/>
          <a:p>
            <a:pPr algn="l" indent="0" marL="0">
              <a:buNone/>
            </a:pPr>
            <a:r>
              <a:rPr lang="en-US" sz="1067" b="1" dirty="0">
                <a:solidFill>
                  <a:srgbClr val="DDA322"/>
                </a:solidFill>
                <a:latin typeface="DejaVu Sans" pitchFamily="34" charset="0"/>
                <a:ea typeface="DejaVu Sans" pitchFamily="34" charset="-122"/>
                <a:cs typeface="DejaVu Sans" pitchFamily="34" charset="-120"/>
              </a:rPr>
              <a:t>SCALE TRACK  /  TESTNET PROTOTYPE</a:t>
            </a:r>
            <a:endParaRPr lang="en-US" sz="1067" dirty="0"/>
          </a:p>
        </p:txBody>
      </p:sp>
      <p:sp>
        <p:nvSpPr>
          <p:cNvPr id="11" name="Text 8"/>
          <p:cNvSpPr/>
          <p:nvPr/>
        </p:nvSpPr>
        <p:spPr>
          <a:xfrm>
            <a:off x="474133" y="1430867"/>
            <a:ext cx="10583333" cy="1524000"/>
          </a:xfrm>
          <a:prstGeom prst="rect">
            <a:avLst/>
          </a:prstGeom>
          <a:noFill/>
          <a:ln/>
        </p:spPr>
        <p:txBody>
          <a:bodyPr wrap="square" lIns="0" tIns="0" rIns="0" bIns="0" rtlCol="0" anchor="t"/>
          <a:lstStyle/>
          <a:p>
            <a:pPr algn="l" indent="0" marL="0">
              <a:buNone/>
            </a:pPr>
            <a:r>
              <a:rPr lang="en-US" sz="9333" b="1" dirty="0">
                <a:solidFill>
                  <a:srgbClr val="1A1815"/>
                </a:solidFill>
                <a:latin typeface="DejaVu Sans" pitchFamily="34" charset="0"/>
                <a:ea typeface="DejaVu Sans" pitchFamily="34" charset="-122"/>
                <a:cs typeface="DejaVu Sans" pitchFamily="34" charset="-120"/>
              </a:rPr>
              <a:t>CONDUIT</a:t>
            </a:r>
            <a:endParaRPr lang="en-US" sz="9333" dirty="0"/>
          </a:p>
        </p:txBody>
      </p:sp>
      <p:sp>
        <p:nvSpPr>
          <p:cNvPr id="12" name="Text 9"/>
          <p:cNvSpPr/>
          <p:nvPr/>
        </p:nvSpPr>
        <p:spPr>
          <a:xfrm>
            <a:off x="541867" y="3107267"/>
            <a:ext cx="11006667" cy="724323"/>
          </a:xfrm>
          <a:prstGeom prst="rect">
            <a:avLst/>
          </a:prstGeom>
          <a:noFill/>
          <a:ln/>
        </p:spPr>
        <p:txBody>
          <a:bodyPr wrap="square" lIns="0" tIns="0" rIns="0" bIns="0" rtlCol="0" anchor="t"/>
          <a:lstStyle/>
          <a:p>
            <a:pPr algn="l" indent="0" marL="0">
              <a:buNone/>
            </a:pPr>
            <a:r>
              <a:rPr lang="en-US" sz="3933" b="1" dirty="0">
                <a:solidFill>
                  <a:srgbClr val="1A1815"/>
                </a:solidFill>
                <a:latin typeface="DejaVu Sans" pitchFamily="34" charset="0"/>
                <a:ea typeface="DejaVu Sans" pitchFamily="34" charset="-122"/>
                <a:cs typeface="DejaVu Sans" pitchFamily="34" charset="-120"/>
              </a:rPr>
              <a:t>Your money. Your rules.</a:t>
            </a:r>
            <a:endParaRPr lang="en-US" sz="3933" dirty="0"/>
          </a:p>
        </p:txBody>
      </p:sp>
      <p:sp>
        <p:nvSpPr>
          <p:cNvPr id="13" name="Text 10"/>
          <p:cNvSpPr/>
          <p:nvPr/>
        </p:nvSpPr>
        <p:spPr>
          <a:xfrm>
            <a:off x="575733" y="3869267"/>
            <a:ext cx="10498667" cy="405130"/>
          </a:xfrm>
          <a:prstGeom prst="rect">
            <a:avLst/>
          </a:prstGeom>
          <a:noFill/>
          <a:ln/>
        </p:spPr>
        <p:txBody>
          <a:bodyPr wrap="square" lIns="0" tIns="0" rIns="0" bIns="0" rtlCol="0" anchor="t"/>
          <a:lstStyle/>
          <a:p>
            <a:pPr algn="l" indent="0" marL="0">
              <a:buNone/>
            </a:pPr>
            <a:r>
              <a:rPr lang="en-US" sz="2200" dirty="0">
                <a:solidFill>
                  <a:srgbClr val="5C574E"/>
                </a:solidFill>
                <a:latin typeface="DejaVu Sans" pitchFamily="34" charset="0"/>
                <a:ea typeface="DejaVu Sans" pitchFamily="34" charset="-122"/>
                <a:cs typeface="DejaVu Sans" pitchFamily="34" charset="-120"/>
              </a:rPr>
              <a:t>A programmable TRY–Stellar rail.</a:t>
            </a:r>
            <a:endParaRPr lang="en-US" sz="2200" dirty="0"/>
          </a:p>
        </p:txBody>
      </p:sp>
      <p:sp>
        <p:nvSpPr>
          <p:cNvPr id="14" name="Shape 11"/>
          <p:cNvSpPr/>
          <p:nvPr/>
        </p:nvSpPr>
        <p:spPr>
          <a:xfrm>
            <a:off x="541867" y="4758267"/>
            <a:ext cx="11108267" cy="846667"/>
          </a:xfrm>
          <a:prstGeom prst="rect">
            <a:avLst/>
          </a:prstGeom>
          <a:solidFill>
            <a:srgbClr val="1A1815"/>
          </a:solidFill>
          <a:ln w="12700">
            <a:solidFill>
              <a:srgbClr val="1A1815"/>
            </a:solidFill>
            <a:prstDash val="solid"/>
          </a:ln>
        </p:spPr>
      </p:sp>
      <p:sp>
        <p:nvSpPr>
          <p:cNvPr id="15" name="Text 12"/>
          <p:cNvSpPr/>
          <p:nvPr/>
        </p:nvSpPr>
        <p:spPr>
          <a:xfrm>
            <a:off x="762000" y="4927600"/>
            <a:ext cx="1397000" cy="491067"/>
          </a:xfrm>
          <a:prstGeom prst="rect">
            <a:avLst/>
          </a:prstGeom>
          <a:noFill/>
          <a:ln/>
        </p:spPr>
        <p:txBody>
          <a:bodyPr wrap="square" lIns="0" tIns="0" rIns="0" bIns="0" rtlCol="0" anchor="t"/>
          <a:lstStyle/>
          <a:p>
            <a:pPr algn="l" indent="0" marL="0">
              <a:buNone/>
            </a:pPr>
            <a:r>
              <a:rPr lang="en-US" sz="2667" b="1" dirty="0">
                <a:solidFill>
                  <a:srgbClr val="DDA322"/>
                </a:solidFill>
                <a:latin typeface="DejaVu Sans" pitchFamily="34" charset="0"/>
                <a:ea typeface="DejaVu Sans" pitchFamily="34" charset="-122"/>
                <a:cs typeface="DejaVu Sans" pitchFamily="34" charset="-120"/>
              </a:rPr>
              <a:t>TRY</a:t>
            </a:r>
            <a:endParaRPr lang="en-US" sz="2667" dirty="0"/>
          </a:p>
        </p:txBody>
      </p:sp>
      <p:sp>
        <p:nvSpPr>
          <p:cNvPr id="16" name="Shape 13"/>
          <p:cNvSpPr/>
          <p:nvPr/>
        </p:nvSpPr>
        <p:spPr>
          <a:xfrm>
            <a:off x="2269067" y="5181600"/>
            <a:ext cx="491067" cy="0"/>
          </a:xfrm>
          <a:prstGeom prst="line">
            <a:avLst/>
          </a:prstGeom>
          <a:noFill/>
          <a:ln w="16933">
            <a:solidFill>
              <a:srgbClr val="5C574E"/>
            </a:solidFill>
            <a:prstDash val="solid"/>
          </a:ln>
        </p:spPr>
      </p:sp>
      <p:sp>
        <p:nvSpPr>
          <p:cNvPr id="17" name="Shape 14"/>
          <p:cNvSpPr/>
          <p:nvPr/>
        </p:nvSpPr>
        <p:spPr>
          <a:xfrm>
            <a:off x="2683933" y="5122333"/>
            <a:ext cx="76200" cy="59267"/>
          </a:xfrm>
          <a:prstGeom prst="line">
            <a:avLst/>
          </a:prstGeom>
          <a:noFill/>
          <a:ln w="16933">
            <a:solidFill>
              <a:srgbClr val="5C574E"/>
            </a:solidFill>
            <a:prstDash val="solid"/>
          </a:ln>
        </p:spPr>
      </p:sp>
      <p:sp>
        <p:nvSpPr>
          <p:cNvPr id="18" name="Shape 15"/>
          <p:cNvSpPr/>
          <p:nvPr/>
        </p:nvSpPr>
        <p:spPr>
          <a:xfrm>
            <a:off x="2683933" y="5240867"/>
            <a:ext cx="76200" cy="-59267"/>
          </a:xfrm>
          <a:prstGeom prst="line">
            <a:avLst/>
          </a:prstGeom>
          <a:noFill/>
          <a:ln w="16933">
            <a:solidFill>
              <a:srgbClr val="5C574E"/>
            </a:solidFill>
            <a:prstDash val="solid"/>
          </a:ln>
        </p:spPr>
      </p:sp>
      <p:sp>
        <p:nvSpPr>
          <p:cNvPr id="19" name="Text 16"/>
          <p:cNvSpPr/>
          <p:nvPr/>
        </p:nvSpPr>
        <p:spPr>
          <a:xfrm>
            <a:off x="3191933" y="4927600"/>
            <a:ext cx="1778000" cy="491067"/>
          </a:xfrm>
          <a:prstGeom prst="rect">
            <a:avLst/>
          </a:prstGeom>
          <a:noFill/>
          <a:ln/>
        </p:spPr>
        <p:txBody>
          <a:bodyPr wrap="square" lIns="0" tIns="0" rIns="0" bIns="0" rtlCol="0" anchor="t"/>
          <a:lstStyle/>
          <a:p>
            <a:pPr algn="l" indent="0" marL="0">
              <a:buNone/>
            </a:pPr>
            <a:r>
              <a:rPr lang="en-US" sz="2667" b="1" dirty="0">
                <a:solidFill>
                  <a:srgbClr val="F6F2E9"/>
                </a:solidFill>
                <a:latin typeface="DejaVu Sans" pitchFamily="34" charset="0"/>
                <a:ea typeface="DejaVu Sans" pitchFamily="34" charset="-122"/>
                <a:cs typeface="DejaVu Sans" pitchFamily="34" charset="-120"/>
              </a:rPr>
              <a:t>USDC</a:t>
            </a:r>
            <a:endParaRPr lang="en-US" sz="2667" dirty="0"/>
          </a:p>
        </p:txBody>
      </p:sp>
      <p:sp>
        <p:nvSpPr>
          <p:cNvPr id="20" name="Shape 17"/>
          <p:cNvSpPr/>
          <p:nvPr/>
        </p:nvSpPr>
        <p:spPr>
          <a:xfrm>
            <a:off x="5444067" y="5181600"/>
            <a:ext cx="491067" cy="0"/>
          </a:xfrm>
          <a:prstGeom prst="line">
            <a:avLst/>
          </a:prstGeom>
          <a:noFill/>
          <a:ln w="16933">
            <a:solidFill>
              <a:srgbClr val="5C574E"/>
            </a:solidFill>
            <a:prstDash val="solid"/>
          </a:ln>
        </p:spPr>
      </p:sp>
      <p:sp>
        <p:nvSpPr>
          <p:cNvPr id="21" name="Shape 18"/>
          <p:cNvSpPr/>
          <p:nvPr/>
        </p:nvSpPr>
        <p:spPr>
          <a:xfrm>
            <a:off x="5858933" y="5122333"/>
            <a:ext cx="76200" cy="59267"/>
          </a:xfrm>
          <a:prstGeom prst="line">
            <a:avLst/>
          </a:prstGeom>
          <a:noFill/>
          <a:ln w="16933">
            <a:solidFill>
              <a:srgbClr val="5C574E"/>
            </a:solidFill>
            <a:prstDash val="solid"/>
          </a:ln>
        </p:spPr>
      </p:sp>
      <p:sp>
        <p:nvSpPr>
          <p:cNvPr id="22" name="Shape 19"/>
          <p:cNvSpPr/>
          <p:nvPr/>
        </p:nvSpPr>
        <p:spPr>
          <a:xfrm>
            <a:off x="5858933" y="5240867"/>
            <a:ext cx="76200" cy="-59267"/>
          </a:xfrm>
          <a:prstGeom prst="line">
            <a:avLst/>
          </a:prstGeom>
          <a:noFill/>
          <a:ln w="16933">
            <a:solidFill>
              <a:srgbClr val="5C574E"/>
            </a:solidFill>
            <a:prstDash val="solid"/>
          </a:ln>
        </p:spPr>
      </p:sp>
      <p:sp>
        <p:nvSpPr>
          <p:cNvPr id="23" name="Text 20"/>
          <p:cNvSpPr/>
          <p:nvPr/>
        </p:nvSpPr>
        <p:spPr>
          <a:xfrm>
            <a:off x="6350000" y="4995333"/>
            <a:ext cx="2794000" cy="368300"/>
          </a:xfrm>
          <a:prstGeom prst="rect">
            <a:avLst/>
          </a:prstGeom>
          <a:noFill/>
          <a:ln/>
        </p:spPr>
        <p:txBody>
          <a:bodyPr wrap="square" lIns="0" tIns="0" rIns="0" bIns="0" rtlCol="0" anchor="t"/>
          <a:lstStyle/>
          <a:p>
            <a:pPr algn="l" indent="0" marL="0">
              <a:buNone/>
            </a:pPr>
            <a:r>
              <a:rPr lang="en-US" sz="2000" b="1" dirty="0">
                <a:solidFill>
                  <a:srgbClr val="F6F2E9"/>
                </a:solidFill>
                <a:latin typeface="DejaVu Sans" pitchFamily="34" charset="0"/>
                <a:ea typeface="DejaVu Sans" pitchFamily="34" charset="-122"/>
                <a:cs typeface="DejaVu Sans" pitchFamily="34" charset="-120"/>
              </a:rPr>
              <a:t>YOUR RULE</a:t>
            </a:r>
            <a:endParaRPr lang="en-US" sz="2000" dirty="0"/>
          </a:p>
        </p:txBody>
      </p:sp>
      <p:sp>
        <p:nvSpPr>
          <p:cNvPr id="24" name="Shape 21"/>
          <p:cNvSpPr/>
          <p:nvPr/>
        </p:nvSpPr>
        <p:spPr>
          <a:xfrm>
            <a:off x="9160933" y="5181600"/>
            <a:ext cx="491067" cy="0"/>
          </a:xfrm>
          <a:prstGeom prst="line">
            <a:avLst/>
          </a:prstGeom>
          <a:noFill/>
          <a:ln w="16933">
            <a:solidFill>
              <a:srgbClr val="5C574E"/>
            </a:solidFill>
            <a:prstDash val="solid"/>
          </a:ln>
        </p:spPr>
      </p:sp>
      <p:sp>
        <p:nvSpPr>
          <p:cNvPr id="25" name="Shape 22"/>
          <p:cNvSpPr/>
          <p:nvPr/>
        </p:nvSpPr>
        <p:spPr>
          <a:xfrm>
            <a:off x="9575800" y="5122333"/>
            <a:ext cx="76200" cy="59267"/>
          </a:xfrm>
          <a:prstGeom prst="line">
            <a:avLst/>
          </a:prstGeom>
          <a:noFill/>
          <a:ln w="16933">
            <a:solidFill>
              <a:srgbClr val="5C574E"/>
            </a:solidFill>
            <a:prstDash val="solid"/>
          </a:ln>
        </p:spPr>
      </p:sp>
      <p:sp>
        <p:nvSpPr>
          <p:cNvPr id="26" name="Shape 23"/>
          <p:cNvSpPr/>
          <p:nvPr/>
        </p:nvSpPr>
        <p:spPr>
          <a:xfrm>
            <a:off x="9575800" y="5240867"/>
            <a:ext cx="76200" cy="-59267"/>
          </a:xfrm>
          <a:prstGeom prst="line">
            <a:avLst/>
          </a:prstGeom>
          <a:noFill/>
          <a:ln w="16933">
            <a:solidFill>
              <a:srgbClr val="5C574E"/>
            </a:solidFill>
            <a:prstDash val="solid"/>
          </a:ln>
        </p:spPr>
      </p:sp>
      <p:sp>
        <p:nvSpPr>
          <p:cNvPr id="27" name="Text 24"/>
          <p:cNvSpPr/>
          <p:nvPr/>
        </p:nvSpPr>
        <p:spPr>
          <a:xfrm>
            <a:off x="10024533" y="4927600"/>
            <a:ext cx="1227667" cy="491067"/>
          </a:xfrm>
          <a:prstGeom prst="rect">
            <a:avLst/>
          </a:prstGeom>
          <a:noFill/>
          <a:ln/>
        </p:spPr>
        <p:txBody>
          <a:bodyPr wrap="square" lIns="0" tIns="0" rIns="0" bIns="0" rtlCol="0" anchor="t"/>
          <a:lstStyle/>
          <a:p>
            <a:pPr algn="l" indent="0" marL="0">
              <a:buNone/>
            </a:pPr>
            <a:r>
              <a:rPr lang="en-US" sz="2667" b="1" dirty="0">
                <a:solidFill>
                  <a:srgbClr val="DDA322"/>
                </a:solidFill>
                <a:latin typeface="DejaVu Sans" pitchFamily="34" charset="0"/>
                <a:ea typeface="DejaVu Sans" pitchFamily="34" charset="-122"/>
                <a:cs typeface="DejaVu Sans" pitchFamily="34" charset="-120"/>
              </a:rPr>
              <a:t>YOU</a:t>
            </a:r>
            <a:endParaRPr lang="en-US" sz="2667" dirty="0"/>
          </a:p>
        </p:txBody>
      </p:sp>
      <p:sp>
        <p:nvSpPr>
          <p:cNvPr id="28" name="Text 25"/>
          <p:cNvSpPr/>
          <p:nvPr/>
        </p:nvSpPr>
        <p:spPr>
          <a:xfrm>
            <a:off x="575733" y="5825067"/>
            <a:ext cx="10583333" cy="245533"/>
          </a:xfrm>
          <a:prstGeom prst="rect">
            <a:avLst/>
          </a:prstGeom>
          <a:noFill/>
          <a:ln/>
        </p:spPr>
        <p:txBody>
          <a:bodyPr wrap="square" lIns="0" tIns="0" rIns="0" bIns="0" rtlCol="0" anchor="t"/>
          <a:lstStyle/>
          <a:p>
            <a:pPr algn="l" indent="0" marL="0">
              <a:buNone/>
            </a:pPr>
            <a:r>
              <a:rPr lang="en-US" sz="1333" dirty="0">
                <a:solidFill>
                  <a:srgbClr val="5C574E"/>
                </a:solidFill>
                <a:latin typeface="DejaVu Sans" pitchFamily="34" charset="0"/>
                <a:ea typeface="DejaVu Sans" pitchFamily="34" charset="-122"/>
                <a:cs typeface="DejaVu Sans" pitchFamily="34" charset="-120"/>
              </a:rPr>
              <a:t>Bank connections are simulated through a TRY mock anchor.</a:t>
            </a:r>
            <a:endParaRPr lang="en-US" sz="133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7E2D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7E2D6"/>
          </a:solidFill>
          <a:ln w="12700">
            <a:solidFill>
              <a:srgbClr val="E7E2D6"/>
            </a:solidFill>
            <a:prstDash val="solid"/>
          </a:ln>
        </p:spPr>
      </p:sp>
      <p:pic>
        <p:nvPicPr>
          <p:cNvPr id="3" name="Image 0" descr="/home/murat/conduit/docs/pitch/assets/template-paper.png">    </p:cNvPr>
          <p:cNvPicPr>
            <a:picLocks noChangeAspect="1"/>
          </p:cNvPicPr>
          <p:nvPr/>
        </p:nvPicPr>
        <p:blipFill>
          <a:blip r:embed="rId1"/>
          <a:stretch>
            <a:fillRect/>
          </a:stretch>
        </p:blipFill>
        <p:spPr>
          <a:xfrm>
            <a:off x="0" y="0"/>
            <a:ext cx="12192000" cy="6858000"/>
          </a:xfrm>
          <a:prstGeom prst="rect">
            <a:avLst/>
          </a:prstGeom>
        </p:spPr>
      </p:pic>
      <p:sp>
        <p:nvSpPr>
          <p:cNvPr id="4" name="Text 1"/>
          <p:cNvSpPr/>
          <p:nvPr/>
        </p:nvSpPr>
        <p:spPr>
          <a:xfrm>
            <a:off x="541867" y="262467"/>
            <a:ext cx="2540000" cy="220980"/>
          </a:xfrm>
          <a:prstGeom prst="rect">
            <a:avLst/>
          </a:prstGeom>
          <a:noFill/>
          <a:ln/>
        </p:spPr>
        <p:txBody>
          <a:bodyPr wrap="square" lIns="0" tIns="0" rIns="0" bIns="0" rtlCol="0" anchor="t"/>
          <a:lstStyle/>
          <a:p>
            <a:pPr algn="l" indent="0" marL="0">
              <a:buNone/>
            </a:pPr>
            <a:r>
              <a:rPr lang="en-US" sz="1200" b="1" dirty="0">
                <a:solidFill>
                  <a:srgbClr val="1A1815"/>
                </a:solidFill>
                <a:latin typeface="DejaVu Sans" pitchFamily="34" charset="0"/>
                <a:ea typeface="DejaVu Sans" pitchFamily="34" charset="-122"/>
                <a:cs typeface="DejaVu Sans" pitchFamily="34" charset="-120"/>
              </a:rPr>
              <a:t>CONDUIT</a:t>
            </a:r>
            <a:endParaRPr lang="en-US" sz="1200" dirty="0"/>
          </a:p>
        </p:txBody>
      </p:sp>
      <p:sp>
        <p:nvSpPr>
          <p:cNvPr id="5" name="Text 2"/>
          <p:cNvSpPr/>
          <p:nvPr/>
        </p:nvSpPr>
        <p:spPr>
          <a:xfrm>
            <a:off x="7450667" y="279400"/>
            <a:ext cx="4199467" cy="196427"/>
          </a:xfrm>
          <a:prstGeom prst="rect">
            <a:avLst/>
          </a:prstGeom>
          <a:noFill/>
          <a:ln/>
        </p:spPr>
        <p:txBody>
          <a:bodyPr wrap="square" lIns="0" tIns="0" rIns="0" bIns="0" rtlCol="0" anchor="t"/>
          <a:lstStyle/>
          <a:p>
            <a:pPr algn="r" indent="0" marL="0">
              <a:buNone/>
            </a:pPr>
            <a:r>
              <a:rPr lang="en-US" sz="1067" dirty="0">
                <a:solidFill>
                  <a:srgbClr val="1A1815"/>
                </a:solidFill>
                <a:latin typeface="DejaVu Sans" pitchFamily="34" charset="0"/>
                <a:ea typeface="DejaVu Sans" pitchFamily="34" charset="-122"/>
                <a:cs typeface="DejaVu Sans" pitchFamily="34" charset="-120"/>
              </a:rPr>
              <a:t>BUILD ON STELLAR  /  HACKATHON</a:t>
            </a:r>
            <a:endParaRPr lang="en-US" sz="1067" dirty="0"/>
          </a:p>
        </p:txBody>
      </p:sp>
      <p:sp>
        <p:nvSpPr>
          <p:cNvPr id="6" name="Shape 3"/>
          <p:cNvSpPr/>
          <p:nvPr/>
        </p:nvSpPr>
        <p:spPr>
          <a:xfrm>
            <a:off x="541867" y="812800"/>
            <a:ext cx="11108267" cy="778933"/>
          </a:xfrm>
          <a:prstGeom prst="rect">
            <a:avLst/>
          </a:prstGeom>
          <a:solidFill>
            <a:srgbClr val="DDA322"/>
          </a:solidFill>
          <a:ln w="12700">
            <a:solidFill>
              <a:srgbClr val="DDA322"/>
            </a:solidFill>
            <a:prstDash val="solid"/>
          </a:ln>
        </p:spPr>
      </p:sp>
      <p:sp>
        <p:nvSpPr>
          <p:cNvPr id="7" name="Text 4"/>
          <p:cNvSpPr/>
          <p:nvPr/>
        </p:nvSpPr>
        <p:spPr>
          <a:xfrm>
            <a:off x="711200" y="880533"/>
            <a:ext cx="10668000" cy="675217"/>
          </a:xfrm>
          <a:prstGeom prst="rect">
            <a:avLst/>
          </a:prstGeom>
          <a:noFill/>
          <a:ln/>
        </p:spPr>
        <p:txBody>
          <a:bodyPr wrap="square" lIns="0" tIns="0" rIns="0" bIns="0" rtlCol="0" anchor="t"/>
          <a:lstStyle/>
          <a:p>
            <a:pPr algn="l" indent="0" marL="0">
              <a:buNone/>
            </a:pPr>
            <a:r>
              <a:rPr lang="en-US" sz="3667" b="1" dirty="0">
                <a:solidFill>
                  <a:srgbClr val="1A1815"/>
                </a:solidFill>
                <a:latin typeface="DejaVu Sans" pitchFamily="34" charset="0"/>
                <a:ea typeface="DejaVu Sans" pitchFamily="34" charset="-122"/>
                <a:cs typeface="DejaVu Sans" pitchFamily="34" charset="-120"/>
              </a:rPr>
              <a:t>THE SOLUTION</a:t>
            </a:r>
            <a:endParaRPr lang="en-US" sz="3667" dirty="0"/>
          </a:p>
        </p:txBody>
      </p:sp>
      <p:sp>
        <p:nvSpPr>
          <p:cNvPr id="8" name="Shape 5"/>
          <p:cNvSpPr/>
          <p:nvPr/>
        </p:nvSpPr>
        <p:spPr>
          <a:xfrm>
            <a:off x="541867" y="6316133"/>
            <a:ext cx="11108267" cy="0"/>
          </a:xfrm>
          <a:prstGeom prst="line">
            <a:avLst/>
          </a:prstGeom>
          <a:noFill/>
          <a:ln w="6773">
            <a:solidFill>
              <a:srgbClr val="5C574E"/>
            </a:solidFill>
            <a:prstDash val="solid"/>
          </a:ln>
        </p:spPr>
      </p:sp>
      <p:sp>
        <p:nvSpPr>
          <p:cNvPr id="9" name="Text 6"/>
          <p:cNvSpPr/>
          <p:nvPr/>
        </p:nvSpPr>
        <p:spPr>
          <a:xfrm>
            <a:off x="541867" y="6468533"/>
            <a:ext cx="5503333" cy="171873"/>
          </a:xfrm>
          <a:prstGeom prst="rect">
            <a:avLst/>
          </a:prstGeom>
          <a:noFill/>
          <a:ln/>
        </p:spPr>
        <p:txBody>
          <a:bodyPr wrap="square" lIns="0" tIns="0" rIns="0" bIns="0" rtlCol="0" anchor="t"/>
          <a:lstStyle/>
          <a:p>
            <a:pPr algn="l" indent="0" marL="0">
              <a:buNone/>
            </a:pPr>
            <a:r>
              <a:rPr lang="en-US" sz="933" dirty="0">
                <a:solidFill>
                  <a:srgbClr val="5C574E"/>
                </a:solidFill>
                <a:latin typeface="DejaVu Sans" pitchFamily="34" charset="0"/>
                <a:ea typeface="DejaVu Sans" pitchFamily="34" charset="-122"/>
                <a:cs typeface="DejaVu Sans" pitchFamily="34" charset="-120"/>
              </a:rPr>
              <a:t>THE SOLUTION</a:t>
            </a:r>
            <a:endParaRPr lang="en-US" sz="933" dirty="0"/>
          </a:p>
        </p:txBody>
      </p:sp>
      <p:sp>
        <p:nvSpPr>
          <p:cNvPr id="10" name="Text 7"/>
          <p:cNvSpPr/>
          <p:nvPr/>
        </p:nvSpPr>
        <p:spPr>
          <a:xfrm>
            <a:off x="8940800" y="6468533"/>
            <a:ext cx="2709333" cy="171873"/>
          </a:xfrm>
          <a:prstGeom prst="rect">
            <a:avLst/>
          </a:prstGeom>
          <a:noFill/>
          <a:ln/>
        </p:spPr>
        <p:txBody>
          <a:bodyPr wrap="square" lIns="0" tIns="0" rIns="0" bIns="0" rtlCol="0" anchor="t"/>
          <a:lstStyle/>
          <a:p>
            <a:pPr algn="r" indent="0" marL="0">
              <a:buNone/>
            </a:pPr>
            <a:r>
              <a:rPr lang="en-US" sz="933" dirty="0">
                <a:solidFill>
                  <a:srgbClr val="5C574E"/>
                </a:solidFill>
                <a:latin typeface="DejaVu Sans" pitchFamily="34" charset="0"/>
                <a:ea typeface="DejaVu Sans" pitchFamily="34" charset="-122"/>
                <a:cs typeface="DejaVu Sans" pitchFamily="34" charset="-120"/>
              </a:rPr>
              <a:t>STELLAR TESTNET   /   02</a:t>
            </a:r>
            <a:endParaRPr lang="en-US" sz="933" dirty="0"/>
          </a:p>
        </p:txBody>
      </p:sp>
      <p:sp>
        <p:nvSpPr>
          <p:cNvPr id="11" name="Text 8"/>
          <p:cNvSpPr/>
          <p:nvPr/>
        </p:nvSpPr>
        <p:spPr>
          <a:xfrm>
            <a:off x="541867" y="1964267"/>
            <a:ext cx="5715000" cy="1354667"/>
          </a:xfrm>
          <a:prstGeom prst="rect">
            <a:avLst/>
          </a:prstGeom>
          <a:noFill/>
          <a:ln/>
        </p:spPr>
        <p:txBody>
          <a:bodyPr wrap="square" lIns="0" tIns="0" rIns="0" bIns="0" rtlCol="0" anchor="t"/>
          <a:lstStyle/>
          <a:p>
            <a:pPr algn="l" indent="0" marL="0">
              <a:buNone/>
            </a:pPr>
            <a:r>
              <a:rPr lang="en-US" sz="4000" b="1" dirty="0">
                <a:solidFill>
                  <a:srgbClr val="1A1815"/>
                </a:solidFill>
                <a:latin typeface="DejaVu Sans" pitchFamily="34" charset="0"/>
                <a:ea typeface="DejaVu Sans" pitchFamily="34" charset="-122"/>
                <a:cs typeface="DejaVu Sans" pitchFamily="34" charset="-120"/>
              </a:rPr>
              <a:t>Set the rule.</a:t>
            </a:r>
            <a:endParaRPr lang="en-US" sz="4000" dirty="0"/>
          </a:p>
          <a:p>
            <a:pPr algn="l" indent="0" marL="0">
              <a:buNone/>
            </a:pPr>
            <a:r>
              <a:rPr lang="en-US" sz="4000" b="1" dirty="0">
                <a:solidFill>
                  <a:srgbClr val="1A1815"/>
                </a:solidFill>
                <a:latin typeface="DejaVu Sans" pitchFamily="34" charset="0"/>
                <a:ea typeface="DejaVu Sans" pitchFamily="34" charset="-122"/>
                <a:cs typeface="DejaVu Sans" pitchFamily="34" charset="-120"/>
              </a:rPr>
              <a:t>Keep control.</a:t>
            </a:r>
            <a:endParaRPr lang="en-US" sz="4000" dirty="0"/>
          </a:p>
        </p:txBody>
      </p:sp>
      <p:sp>
        <p:nvSpPr>
          <p:cNvPr id="12" name="Text 9"/>
          <p:cNvSpPr/>
          <p:nvPr/>
        </p:nvSpPr>
        <p:spPr>
          <a:xfrm>
            <a:off x="575733" y="3632200"/>
            <a:ext cx="5842000" cy="804333"/>
          </a:xfrm>
          <a:prstGeom prst="rect">
            <a:avLst/>
          </a:prstGeom>
          <a:noFill/>
          <a:ln/>
        </p:spPr>
        <p:txBody>
          <a:bodyPr wrap="square" lIns="0" tIns="0" rIns="0" bIns="0" rtlCol="0" anchor="t"/>
          <a:lstStyle/>
          <a:p>
            <a:pPr algn="l" indent="0" marL="0">
              <a:buNone/>
            </a:pPr>
            <a:r>
              <a:rPr lang="en-US" sz="1867" dirty="0">
                <a:solidFill>
                  <a:srgbClr val="5C574E"/>
                </a:solidFill>
                <a:latin typeface="DejaVu Sans" pitchFamily="34" charset="0"/>
                <a:ea typeface="DejaVu Sans" pitchFamily="34" charset="-122"/>
                <a:cs typeface="DejaVu Sans" pitchFamily="34" charset="-120"/>
              </a:rPr>
              <a:t>Allocate incoming USDC automatically.</a:t>
            </a:r>
            <a:endParaRPr lang="en-US" sz="1867" dirty="0"/>
          </a:p>
          <a:p>
            <a:pPr algn="l" indent="0" marL="0">
              <a:buNone/>
            </a:pPr>
            <a:r>
              <a:rPr lang="en-US" sz="1867" dirty="0">
                <a:solidFill>
                  <a:srgbClr val="5C574E"/>
                </a:solidFill>
                <a:latin typeface="DejaVu Sans" pitchFamily="34" charset="0"/>
                <a:ea typeface="DejaVu Sans" pitchFamily="34" charset="-122"/>
                <a:cs typeface="DejaVu Sans" pitchFamily="34" charset="-120"/>
              </a:rPr>
              <a:t>Keep the assets in your own wallet.</a:t>
            </a:r>
            <a:endParaRPr lang="en-US" sz="1867" dirty="0"/>
          </a:p>
        </p:txBody>
      </p:sp>
      <p:sp>
        <p:nvSpPr>
          <p:cNvPr id="13" name="Text 10"/>
          <p:cNvSpPr/>
          <p:nvPr/>
        </p:nvSpPr>
        <p:spPr>
          <a:xfrm>
            <a:off x="6942667" y="1964267"/>
            <a:ext cx="524933" cy="294640"/>
          </a:xfrm>
          <a:prstGeom prst="rect">
            <a:avLst/>
          </a:prstGeom>
          <a:noFill/>
          <a:ln/>
        </p:spPr>
        <p:txBody>
          <a:bodyPr wrap="square" lIns="0" tIns="0" rIns="0" bIns="0" rtlCol="0" anchor="t"/>
          <a:lstStyle/>
          <a:p>
            <a:pPr algn="l" indent="0" marL="0">
              <a:buNone/>
            </a:pPr>
            <a:r>
              <a:rPr lang="en-US" sz="1600" b="1" dirty="0">
                <a:solidFill>
                  <a:srgbClr val="14795F"/>
                </a:solidFill>
                <a:latin typeface="DejaVu Sans" pitchFamily="34" charset="0"/>
                <a:ea typeface="DejaVu Sans" pitchFamily="34" charset="-122"/>
                <a:cs typeface="DejaVu Sans" pitchFamily="34" charset="-120"/>
              </a:rPr>
              <a:t>01</a:t>
            </a:r>
            <a:endParaRPr lang="en-US" sz="1600" dirty="0"/>
          </a:p>
        </p:txBody>
      </p:sp>
      <p:sp>
        <p:nvSpPr>
          <p:cNvPr id="14" name="Text 11"/>
          <p:cNvSpPr/>
          <p:nvPr/>
        </p:nvSpPr>
        <p:spPr>
          <a:xfrm>
            <a:off x="7620000" y="1938867"/>
            <a:ext cx="3937000" cy="343747"/>
          </a:xfrm>
          <a:prstGeom prst="rect">
            <a:avLst/>
          </a:prstGeom>
          <a:noFill/>
          <a:ln/>
        </p:spPr>
        <p:txBody>
          <a:bodyPr wrap="square" lIns="0" tIns="0" rIns="0" bIns="0" rtlCol="0" anchor="t"/>
          <a:lstStyle/>
          <a:p>
            <a:pPr algn="l" indent="0" marL="0">
              <a:buNone/>
            </a:pPr>
            <a:r>
              <a:rPr lang="en-US" sz="1867" b="1" dirty="0">
                <a:solidFill>
                  <a:srgbClr val="1A1815"/>
                </a:solidFill>
                <a:latin typeface="DejaVu Sans" pitchFamily="34" charset="0"/>
                <a:ea typeface="DejaVu Sans" pitchFamily="34" charset="-122"/>
                <a:cs typeface="DejaVu Sans" pitchFamily="34" charset="-120"/>
              </a:rPr>
              <a:t>You choose</a:t>
            </a:r>
            <a:endParaRPr lang="en-US" sz="1867" dirty="0"/>
          </a:p>
        </p:txBody>
      </p:sp>
      <p:sp>
        <p:nvSpPr>
          <p:cNvPr id="15" name="Text 12"/>
          <p:cNvSpPr/>
          <p:nvPr/>
        </p:nvSpPr>
        <p:spPr>
          <a:xfrm>
            <a:off x="7620000" y="2302933"/>
            <a:ext cx="3937000" cy="257810"/>
          </a:xfrm>
          <a:prstGeom prst="rect">
            <a:avLst/>
          </a:prstGeom>
          <a:noFill/>
          <a:ln/>
        </p:spPr>
        <p:txBody>
          <a:bodyPr wrap="square" lIns="0" tIns="0" rIns="0" bIns="0" rtlCol="0" anchor="t"/>
          <a:lstStyle/>
          <a:p>
            <a:pPr algn="l" indent="0" marL="0">
              <a:buNone/>
            </a:pPr>
            <a:r>
              <a:rPr lang="en-US" sz="1400" dirty="0">
                <a:solidFill>
                  <a:srgbClr val="5C574E"/>
                </a:solidFill>
                <a:latin typeface="DejaVu Sans" pitchFamily="34" charset="0"/>
                <a:ea typeface="DejaVu Sans" pitchFamily="34" charset="-122"/>
                <a:cs typeface="DejaVu Sans" pitchFamily="34" charset="-120"/>
              </a:rPr>
              <a:t>Assets, spending cap and expiry.</a:t>
            </a:r>
            <a:endParaRPr lang="en-US" sz="1400" dirty="0"/>
          </a:p>
        </p:txBody>
      </p:sp>
      <p:sp>
        <p:nvSpPr>
          <p:cNvPr id="16" name="Text 13"/>
          <p:cNvSpPr/>
          <p:nvPr/>
        </p:nvSpPr>
        <p:spPr>
          <a:xfrm>
            <a:off x="6942667" y="2971800"/>
            <a:ext cx="524933" cy="294640"/>
          </a:xfrm>
          <a:prstGeom prst="rect">
            <a:avLst/>
          </a:prstGeom>
          <a:noFill/>
          <a:ln/>
        </p:spPr>
        <p:txBody>
          <a:bodyPr wrap="square" lIns="0" tIns="0" rIns="0" bIns="0" rtlCol="0" anchor="t"/>
          <a:lstStyle/>
          <a:p>
            <a:pPr algn="l" indent="0" marL="0">
              <a:buNone/>
            </a:pPr>
            <a:r>
              <a:rPr lang="en-US" sz="1600" b="1" dirty="0">
                <a:solidFill>
                  <a:srgbClr val="14795F"/>
                </a:solidFill>
                <a:latin typeface="DejaVu Sans" pitchFamily="34" charset="0"/>
                <a:ea typeface="DejaVu Sans" pitchFamily="34" charset="-122"/>
                <a:cs typeface="DejaVu Sans" pitchFamily="34" charset="-120"/>
              </a:rPr>
              <a:t>02</a:t>
            </a:r>
            <a:endParaRPr lang="en-US" sz="1600" dirty="0"/>
          </a:p>
        </p:txBody>
      </p:sp>
      <p:sp>
        <p:nvSpPr>
          <p:cNvPr id="17" name="Text 14"/>
          <p:cNvSpPr/>
          <p:nvPr/>
        </p:nvSpPr>
        <p:spPr>
          <a:xfrm>
            <a:off x="7620000" y="2946400"/>
            <a:ext cx="3937000" cy="343747"/>
          </a:xfrm>
          <a:prstGeom prst="rect">
            <a:avLst/>
          </a:prstGeom>
          <a:noFill/>
          <a:ln/>
        </p:spPr>
        <p:txBody>
          <a:bodyPr wrap="square" lIns="0" tIns="0" rIns="0" bIns="0" rtlCol="0" anchor="t"/>
          <a:lstStyle/>
          <a:p>
            <a:pPr algn="l" indent="0" marL="0">
              <a:buNone/>
            </a:pPr>
            <a:r>
              <a:rPr lang="en-US" sz="1867" b="1" dirty="0">
                <a:solidFill>
                  <a:srgbClr val="1A1815"/>
                </a:solidFill>
                <a:latin typeface="DejaVu Sans" pitchFamily="34" charset="0"/>
                <a:ea typeface="DejaVu Sans" pitchFamily="34" charset="-122"/>
                <a:cs typeface="DejaVu Sans" pitchFamily="34" charset="-120"/>
              </a:rPr>
              <a:t>The contract checks</a:t>
            </a:r>
            <a:endParaRPr lang="en-US" sz="1867" dirty="0"/>
          </a:p>
        </p:txBody>
      </p:sp>
      <p:sp>
        <p:nvSpPr>
          <p:cNvPr id="18" name="Text 15"/>
          <p:cNvSpPr/>
          <p:nvPr/>
        </p:nvSpPr>
        <p:spPr>
          <a:xfrm>
            <a:off x="7620000" y="3310467"/>
            <a:ext cx="3937000" cy="257810"/>
          </a:xfrm>
          <a:prstGeom prst="rect">
            <a:avLst/>
          </a:prstGeom>
          <a:noFill/>
          <a:ln/>
        </p:spPr>
        <p:txBody>
          <a:bodyPr wrap="square" lIns="0" tIns="0" rIns="0" bIns="0" rtlCol="0" anchor="t"/>
          <a:lstStyle/>
          <a:p>
            <a:pPr algn="l" indent="0" marL="0">
              <a:buNone/>
            </a:pPr>
            <a:r>
              <a:rPr lang="en-US" sz="1400" dirty="0">
                <a:solidFill>
                  <a:srgbClr val="5C574E"/>
                </a:solidFill>
                <a:latin typeface="DejaVu Sans" pitchFamily="34" charset="0"/>
                <a:ea typeface="DejaVu Sans" pitchFamily="34" charset="-122"/>
                <a:cs typeface="DejaVu Sans" pitchFamily="34" charset="-120"/>
              </a:rPr>
              <a:t>Each swap must fit your mandate.</a:t>
            </a:r>
            <a:endParaRPr lang="en-US" sz="1400" dirty="0"/>
          </a:p>
        </p:txBody>
      </p:sp>
      <p:sp>
        <p:nvSpPr>
          <p:cNvPr id="19" name="Text 16"/>
          <p:cNvSpPr/>
          <p:nvPr/>
        </p:nvSpPr>
        <p:spPr>
          <a:xfrm>
            <a:off x="6942667" y="3979333"/>
            <a:ext cx="524933" cy="294640"/>
          </a:xfrm>
          <a:prstGeom prst="rect">
            <a:avLst/>
          </a:prstGeom>
          <a:noFill/>
          <a:ln/>
        </p:spPr>
        <p:txBody>
          <a:bodyPr wrap="square" lIns="0" tIns="0" rIns="0" bIns="0" rtlCol="0" anchor="t"/>
          <a:lstStyle/>
          <a:p>
            <a:pPr algn="l" indent="0" marL="0">
              <a:buNone/>
            </a:pPr>
            <a:r>
              <a:rPr lang="en-US" sz="1600" b="1" dirty="0">
                <a:solidFill>
                  <a:srgbClr val="14795F"/>
                </a:solidFill>
                <a:latin typeface="DejaVu Sans" pitchFamily="34" charset="0"/>
                <a:ea typeface="DejaVu Sans" pitchFamily="34" charset="-122"/>
                <a:cs typeface="DejaVu Sans" pitchFamily="34" charset="-120"/>
              </a:rPr>
              <a:t>03</a:t>
            </a:r>
            <a:endParaRPr lang="en-US" sz="1600" dirty="0"/>
          </a:p>
        </p:txBody>
      </p:sp>
      <p:sp>
        <p:nvSpPr>
          <p:cNvPr id="20" name="Text 17"/>
          <p:cNvSpPr/>
          <p:nvPr/>
        </p:nvSpPr>
        <p:spPr>
          <a:xfrm>
            <a:off x="7620000" y="3953933"/>
            <a:ext cx="3937000" cy="343747"/>
          </a:xfrm>
          <a:prstGeom prst="rect">
            <a:avLst/>
          </a:prstGeom>
          <a:noFill/>
          <a:ln/>
        </p:spPr>
        <p:txBody>
          <a:bodyPr wrap="square" lIns="0" tIns="0" rIns="0" bIns="0" rtlCol="0" anchor="t"/>
          <a:lstStyle/>
          <a:p>
            <a:pPr algn="l" indent="0" marL="0">
              <a:buNone/>
            </a:pPr>
            <a:r>
              <a:rPr lang="en-US" sz="1867" b="1" dirty="0">
                <a:solidFill>
                  <a:srgbClr val="1A1815"/>
                </a:solidFill>
                <a:latin typeface="DejaVu Sans" pitchFamily="34" charset="0"/>
                <a:ea typeface="DejaVu Sans" pitchFamily="34" charset="-122"/>
                <a:cs typeface="DejaVu Sans" pitchFamily="34" charset="-120"/>
              </a:rPr>
              <a:t>You can revoke</a:t>
            </a:r>
            <a:endParaRPr lang="en-US" sz="1867" dirty="0"/>
          </a:p>
        </p:txBody>
      </p:sp>
      <p:sp>
        <p:nvSpPr>
          <p:cNvPr id="21" name="Text 18"/>
          <p:cNvSpPr/>
          <p:nvPr/>
        </p:nvSpPr>
        <p:spPr>
          <a:xfrm>
            <a:off x="7620000" y="4318000"/>
            <a:ext cx="3937000" cy="257810"/>
          </a:xfrm>
          <a:prstGeom prst="rect">
            <a:avLst/>
          </a:prstGeom>
          <a:noFill/>
          <a:ln/>
        </p:spPr>
        <p:txBody>
          <a:bodyPr wrap="square" lIns="0" tIns="0" rIns="0" bIns="0" rtlCol="0" anchor="t"/>
          <a:lstStyle/>
          <a:p>
            <a:pPr algn="l" indent="0" marL="0">
              <a:buNone/>
            </a:pPr>
            <a:r>
              <a:rPr lang="en-US" sz="1400" dirty="0">
                <a:solidFill>
                  <a:srgbClr val="5C574E"/>
                </a:solidFill>
                <a:latin typeface="DejaVu Sans" pitchFamily="34" charset="0"/>
                <a:ea typeface="DejaVu Sans" pitchFamily="34" charset="-122"/>
                <a:cs typeface="DejaVu Sans" pitchFamily="34" charset="-120"/>
              </a:rPr>
              <a:t>Stop the delegate with one call.</a:t>
            </a:r>
            <a:endParaRPr lang="en-US" sz="1400" dirty="0"/>
          </a:p>
        </p:txBody>
      </p:sp>
      <p:sp>
        <p:nvSpPr>
          <p:cNvPr id="22" name="Shape 19"/>
          <p:cNvSpPr/>
          <p:nvPr/>
        </p:nvSpPr>
        <p:spPr>
          <a:xfrm>
            <a:off x="541867" y="5122333"/>
            <a:ext cx="11108267" cy="762000"/>
          </a:xfrm>
          <a:prstGeom prst="rect">
            <a:avLst/>
          </a:prstGeom>
          <a:solidFill>
            <a:srgbClr val="1A1815"/>
          </a:solidFill>
          <a:ln w="12700">
            <a:solidFill>
              <a:srgbClr val="1A1815"/>
            </a:solidFill>
            <a:prstDash val="solid"/>
          </a:ln>
        </p:spPr>
      </p:sp>
      <p:sp>
        <p:nvSpPr>
          <p:cNvPr id="23" name="Text 20"/>
          <p:cNvSpPr/>
          <p:nvPr/>
        </p:nvSpPr>
        <p:spPr>
          <a:xfrm>
            <a:off x="762000" y="5257800"/>
            <a:ext cx="10414000" cy="319193"/>
          </a:xfrm>
          <a:prstGeom prst="rect">
            <a:avLst/>
          </a:prstGeom>
          <a:noFill/>
          <a:ln/>
        </p:spPr>
        <p:txBody>
          <a:bodyPr wrap="square" lIns="0" tIns="0" rIns="0" bIns="0" rtlCol="0" anchor="t"/>
          <a:lstStyle/>
          <a:p>
            <a:pPr algn="l" indent="0" marL="0">
              <a:buNone/>
            </a:pPr>
            <a:r>
              <a:rPr lang="en-US" sz="1733" b="1" dirty="0">
                <a:solidFill>
                  <a:srgbClr val="F6F2E9"/>
                </a:solidFill>
                <a:latin typeface="DejaVu Sans" pitchFamily="34" charset="0"/>
                <a:ea typeface="DejaVu Sans" pitchFamily="34" charset="-122"/>
                <a:cs typeface="DejaVu Sans" pitchFamily="34" charset="-120"/>
              </a:rPr>
              <a:t>The delegate can request a swap.</a:t>
            </a:r>
            <a:endParaRPr lang="en-US" sz="1733" dirty="0"/>
          </a:p>
        </p:txBody>
      </p:sp>
      <p:sp>
        <p:nvSpPr>
          <p:cNvPr id="24" name="Text 21"/>
          <p:cNvSpPr/>
          <p:nvPr/>
        </p:nvSpPr>
        <p:spPr>
          <a:xfrm>
            <a:off x="762000" y="5579533"/>
            <a:ext cx="10414000" cy="270087"/>
          </a:xfrm>
          <a:prstGeom prst="rect">
            <a:avLst/>
          </a:prstGeom>
          <a:noFill/>
          <a:ln/>
        </p:spPr>
        <p:txBody>
          <a:bodyPr wrap="square" lIns="0" tIns="0" rIns="0" bIns="0" rtlCol="0" anchor="t"/>
          <a:lstStyle/>
          <a:p>
            <a:pPr algn="l" indent="0" marL="0">
              <a:buNone/>
            </a:pPr>
            <a:r>
              <a:rPr lang="en-US" sz="1467" dirty="0">
                <a:solidFill>
                  <a:srgbClr val="DDA322"/>
                </a:solidFill>
                <a:latin typeface="DejaVu Sans" pitchFamily="34" charset="0"/>
                <a:ea typeface="DejaVu Sans" pitchFamily="34" charset="-122"/>
                <a:cs typeface="DejaVu Sans" pitchFamily="34" charset="-120"/>
              </a:rPr>
              <a:t>The contract fixes the payout recipient to the owner.</a:t>
            </a:r>
            <a:endParaRPr lang="en-US" sz="146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7E2D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7E2D6"/>
          </a:solidFill>
          <a:ln w="12700">
            <a:solidFill>
              <a:srgbClr val="E7E2D6"/>
            </a:solidFill>
            <a:prstDash val="solid"/>
          </a:ln>
        </p:spPr>
      </p:sp>
      <p:pic>
        <p:nvPicPr>
          <p:cNvPr id="3" name="Image 0" descr="/home/murat/conduit/docs/pitch/assets/template-paper.png">    </p:cNvPr>
          <p:cNvPicPr>
            <a:picLocks noChangeAspect="1"/>
          </p:cNvPicPr>
          <p:nvPr/>
        </p:nvPicPr>
        <p:blipFill>
          <a:blip r:embed="rId1"/>
          <a:stretch>
            <a:fillRect/>
          </a:stretch>
        </p:blipFill>
        <p:spPr>
          <a:xfrm>
            <a:off x="0" y="0"/>
            <a:ext cx="12192000" cy="6858000"/>
          </a:xfrm>
          <a:prstGeom prst="rect">
            <a:avLst/>
          </a:prstGeom>
        </p:spPr>
      </p:pic>
      <p:sp>
        <p:nvSpPr>
          <p:cNvPr id="4" name="Text 1"/>
          <p:cNvSpPr/>
          <p:nvPr/>
        </p:nvSpPr>
        <p:spPr>
          <a:xfrm>
            <a:off x="541867" y="262467"/>
            <a:ext cx="2540000" cy="220980"/>
          </a:xfrm>
          <a:prstGeom prst="rect">
            <a:avLst/>
          </a:prstGeom>
          <a:noFill/>
          <a:ln/>
        </p:spPr>
        <p:txBody>
          <a:bodyPr wrap="square" lIns="0" tIns="0" rIns="0" bIns="0" rtlCol="0" anchor="t"/>
          <a:lstStyle/>
          <a:p>
            <a:pPr algn="l" indent="0" marL="0">
              <a:buNone/>
            </a:pPr>
            <a:r>
              <a:rPr lang="en-US" sz="1200" b="1" dirty="0">
                <a:solidFill>
                  <a:srgbClr val="1A1815"/>
                </a:solidFill>
                <a:latin typeface="DejaVu Sans" pitchFamily="34" charset="0"/>
                <a:ea typeface="DejaVu Sans" pitchFamily="34" charset="-122"/>
                <a:cs typeface="DejaVu Sans" pitchFamily="34" charset="-120"/>
              </a:rPr>
              <a:t>CONDUIT</a:t>
            </a:r>
            <a:endParaRPr lang="en-US" sz="1200" dirty="0"/>
          </a:p>
        </p:txBody>
      </p:sp>
      <p:sp>
        <p:nvSpPr>
          <p:cNvPr id="5" name="Text 2"/>
          <p:cNvSpPr/>
          <p:nvPr/>
        </p:nvSpPr>
        <p:spPr>
          <a:xfrm>
            <a:off x="7450667" y="279400"/>
            <a:ext cx="4199467" cy="196427"/>
          </a:xfrm>
          <a:prstGeom prst="rect">
            <a:avLst/>
          </a:prstGeom>
          <a:noFill/>
          <a:ln/>
        </p:spPr>
        <p:txBody>
          <a:bodyPr wrap="square" lIns="0" tIns="0" rIns="0" bIns="0" rtlCol="0" anchor="t"/>
          <a:lstStyle/>
          <a:p>
            <a:pPr algn="r" indent="0" marL="0">
              <a:buNone/>
            </a:pPr>
            <a:r>
              <a:rPr lang="en-US" sz="1067" dirty="0">
                <a:solidFill>
                  <a:srgbClr val="1A1815"/>
                </a:solidFill>
                <a:latin typeface="DejaVu Sans" pitchFamily="34" charset="0"/>
                <a:ea typeface="DejaVu Sans" pitchFamily="34" charset="-122"/>
                <a:cs typeface="DejaVu Sans" pitchFamily="34" charset="-120"/>
              </a:rPr>
              <a:t>BUILD ON STELLAR  /  HACKATHON</a:t>
            </a:r>
            <a:endParaRPr lang="en-US" sz="1067" dirty="0"/>
          </a:p>
        </p:txBody>
      </p:sp>
      <p:sp>
        <p:nvSpPr>
          <p:cNvPr id="6" name="Shape 3"/>
          <p:cNvSpPr/>
          <p:nvPr/>
        </p:nvSpPr>
        <p:spPr>
          <a:xfrm>
            <a:off x="541867" y="812800"/>
            <a:ext cx="11108267" cy="778933"/>
          </a:xfrm>
          <a:prstGeom prst="rect">
            <a:avLst/>
          </a:prstGeom>
          <a:solidFill>
            <a:srgbClr val="DDA322"/>
          </a:solidFill>
          <a:ln w="12700">
            <a:solidFill>
              <a:srgbClr val="DDA322"/>
            </a:solidFill>
            <a:prstDash val="solid"/>
          </a:ln>
        </p:spPr>
      </p:sp>
      <p:sp>
        <p:nvSpPr>
          <p:cNvPr id="7" name="Text 4"/>
          <p:cNvSpPr/>
          <p:nvPr/>
        </p:nvSpPr>
        <p:spPr>
          <a:xfrm>
            <a:off x="711200" y="880533"/>
            <a:ext cx="10668000" cy="675217"/>
          </a:xfrm>
          <a:prstGeom prst="rect">
            <a:avLst/>
          </a:prstGeom>
          <a:noFill/>
          <a:ln/>
        </p:spPr>
        <p:txBody>
          <a:bodyPr wrap="square" lIns="0" tIns="0" rIns="0" bIns="0" rtlCol="0" anchor="t"/>
          <a:lstStyle/>
          <a:p>
            <a:pPr algn="l" indent="0" marL="0">
              <a:buNone/>
            </a:pPr>
            <a:r>
              <a:rPr lang="en-US" sz="3667" b="1" dirty="0">
                <a:solidFill>
                  <a:srgbClr val="1A1815"/>
                </a:solidFill>
                <a:latin typeface="DejaVu Sans" pitchFamily="34" charset="0"/>
                <a:ea typeface="DejaVu Sans" pitchFamily="34" charset="-122"/>
                <a:cs typeface="DejaVu Sans" pitchFamily="34" charset="-120"/>
              </a:rPr>
              <a:t>PMF</a:t>
            </a:r>
            <a:endParaRPr lang="en-US" sz="3667" dirty="0"/>
          </a:p>
        </p:txBody>
      </p:sp>
      <p:sp>
        <p:nvSpPr>
          <p:cNvPr id="8" name="Shape 5"/>
          <p:cNvSpPr/>
          <p:nvPr/>
        </p:nvSpPr>
        <p:spPr>
          <a:xfrm>
            <a:off x="541867" y="6316133"/>
            <a:ext cx="11108267" cy="0"/>
          </a:xfrm>
          <a:prstGeom prst="line">
            <a:avLst/>
          </a:prstGeom>
          <a:noFill/>
          <a:ln w="6773">
            <a:solidFill>
              <a:srgbClr val="5C574E"/>
            </a:solidFill>
            <a:prstDash val="solid"/>
          </a:ln>
        </p:spPr>
      </p:sp>
      <p:sp>
        <p:nvSpPr>
          <p:cNvPr id="9" name="Text 6"/>
          <p:cNvSpPr/>
          <p:nvPr/>
        </p:nvSpPr>
        <p:spPr>
          <a:xfrm>
            <a:off x="541867" y="6468533"/>
            <a:ext cx="5503333" cy="171873"/>
          </a:xfrm>
          <a:prstGeom prst="rect">
            <a:avLst/>
          </a:prstGeom>
          <a:noFill/>
          <a:ln/>
        </p:spPr>
        <p:txBody>
          <a:bodyPr wrap="square" lIns="0" tIns="0" rIns="0" bIns="0" rtlCol="0" anchor="t"/>
          <a:lstStyle/>
          <a:p>
            <a:pPr algn="l" indent="0" marL="0">
              <a:buNone/>
            </a:pPr>
            <a:r>
              <a:rPr lang="en-US" sz="933" dirty="0">
                <a:solidFill>
                  <a:srgbClr val="5C574E"/>
                </a:solidFill>
                <a:latin typeface="DejaVu Sans" pitchFamily="34" charset="0"/>
                <a:ea typeface="DejaVu Sans" pitchFamily="34" charset="-122"/>
                <a:cs typeface="DejaVu Sans" pitchFamily="34" charset="-120"/>
              </a:rPr>
              <a:t>PMF / PROBLEM AND TARGET USER</a:t>
            </a:r>
            <a:endParaRPr lang="en-US" sz="933" dirty="0"/>
          </a:p>
        </p:txBody>
      </p:sp>
      <p:sp>
        <p:nvSpPr>
          <p:cNvPr id="10" name="Text 7"/>
          <p:cNvSpPr/>
          <p:nvPr/>
        </p:nvSpPr>
        <p:spPr>
          <a:xfrm>
            <a:off x="8940800" y="6468533"/>
            <a:ext cx="2709333" cy="171873"/>
          </a:xfrm>
          <a:prstGeom prst="rect">
            <a:avLst/>
          </a:prstGeom>
          <a:noFill/>
          <a:ln/>
        </p:spPr>
        <p:txBody>
          <a:bodyPr wrap="square" lIns="0" tIns="0" rIns="0" bIns="0" rtlCol="0" anchor="t"/>
          <a:lstStyle/>
          <a:p>
            <a:pPr algn="r" indent="0" marL="0">
              <a:buNone/>
            </a:pPr>
            <a:r>
              <a:rPr lang="en-US" sz="933" dirty="0">
                <a:solidFill>
                  <a:srgbClr val="5C574E"/>
                </a:solidFill>
                <a:latin typeface="DejaVu Sans" pitchFamily="34" charset="0"/>
                <a:ea typeface="DejaVu Sans" pitchFamily="34" charset="-122"/>
                <a:cs typeface="DejaVu Sans" pitchFamily="34" charset="-120"/>
              </a:rPr>
              <a:t>STELLAR TESTNET   /   03</a:t>
            </a:r>
            <a:endParaRPr lang="en-US" sz="933" dirty="0"/>
          </a:p>
        </p:txBody>
      </p:sp>
      <p:sp>
        <p:nvSpPr>
          <p:cNvPr id="11" name="Text 8"/>
          <p:cNvSpPr/>
          <p:nvPr/>
        </p:nvSpPr>
        <p:spPr>
          <a:xfrm>
            <a:off x="541867" y="1871133"/>
            <a:ext cx="11108267" cy="503343"/>
          </a:xfrm>
          <a:prstGeom prst="rect">
            <a:avLst/>
          </a:prstGeom>
          <a:noFill/>
          <a:ln/>
        </p:spPr>
        <p:txBody>
          <a:bodyPr wrap="square" lIns="0" tIns="0" rIns="0" bIns="0" rtlCol="0" anchor="t"/>
          <a:lstStyle/>
          <a:p>
            <a:pPr algn="l" indent="0" marL="0">
              <a:buNone/>
            </a:pPr>
            <a:r>
              <a:rPr lang="en-US" sz="2733" b="1" dirty="0">
                <a:solidFill>
                  <a:srgbClr val="1A1815"/>
                </a:solidFill>
                <a:latin typeface="DejaVu Sans" pitchFamily="34" charset="0"/>
                <a:ea typeface="DejaVu Sans" pitchFamily="34" charset="-122"/>
                <a:cs typeface="DejaVu Sans" pitchFamily="34" charset="-120"/>
              </a:rPr>
              <a:t>Money follows a plan. People watch the screen.</a:t>
            </a:r>
            <a:endParaRPr lang="en-US" sz="2733" dirty="0"/>
          </a:p>
        </p:txBody>
      </p:sp>
      <p:sp>
        <p:nvSpPr>
          <p:cNvPr id="12" name="Text 9"/>
          <p:cNvSpPr/>
          <p:nvPr/>
        </p:nvSpPr>
        <p:spPr>
          <a:xfrm>
            <a:off x="575733" y="2480733"/>
            <a:ext cx="11006667" cy="331470"/>
          </a:xfrm>
          <a:prstGeom prst="rect">
            <a:avLst/>
          </a:prstGeom>
          <a:noFill/>
          <a:ln/>
        </p:spPr>
        <p:txBody>
          <a:bodyPr wrap="square" lIns="0" tIns="0" rIns="0" bIns="0" rtlCol="0" anchor="t"/>
          <a:lstStyle/>
          <a:p>
            <a:pPr algn="l" indent="0" marL="0">
              <a:buNone/>
            </a:pPr>
            <a:r>
              <a:rPr lang="en-US" sz="1800" dirty="0">
                <a:solidFill>
                  <a:srgbClr val="5C574E"/>
                </a:solidFill>
                <a:latin typeface="DejaVu Sans" pitchFamily="34" charset="0"/>
                <a:ea typeface="DejaVu Sans" pitchFamily="34" charset="-122"/>
                <a:cs typeface="DejaVu Sans" pitchFamily="34" charset="-120"/>
              </a:rPr>
              <a:t>Initial audience: people managing money across TRY and USDC.</a:t>
            </a:r>
            <a:endParaRPr lang="en-US" sz="1800" dirty="0"/>
          </a:p>
        </p:txBody>
      </p:sp>
      <p:sp>
        <p:nvSpPr>
          <p:cNvPr id="13" name="Shape 10"/>
          <p:cNvSpPr/>
          <p:nvPr/>
        </p:nvSpPr>
        <p:spPr>
          <a:xfrm>
            <a:off x="541867" y="3073400"/>
            <a:ext cx="3556000" cy="1540933"/>
          </a:xfrm>
          <a:prstGeom prst="rect">
            <a:avLst/>
          </a:prstGeom>
          <a:solidFill>
            <a:srgbClr val="F6F2E9"/>
          </a:solidFill>
          <a:ln w="12700">
            <a:solidFill>
              <a:srgbClr val="F6F2E9"/>
            </a:solidFill>
            <a:prstDash val="solid"/>
          </a:ln>
        </p:spPr>
      </p:sp>
      <p:sp>
        <p:nvSpPr>
          <p:cNvPr id="14" name="Text 11"/>
          <p:cNvSpPr/>
          <p:nvPr/>
        </p:nvSpPr>
        <p:spPr>
          <a:xfrm>
            <a:off x="728133" y="3208867"/>
            <a:ext cx="592667" cy="257810"/>
          </a:xfrm>
          <a:prstGeom prst="rect">
            <a:avLst/>
          </a:prstGeom>
          <a:noFill/>
          <a:ln/>
        </p:spPr>
        <p:txBody>
          <a:bodyPr wrap="square" lIns="0" tIns="0" rIns="0" bIns="0" rtlCol="0" anchor="t"/>
          <a:lstStyle/>
          <a:p>
            <a:pPr algn="l" indent="0" marL="0">
              <a:buNone/>
            </a:pPr>
            <a:r>
              <a:rPr lang="en-US" sz="1400" b="1" dirty="0">
                <a:solidFill>
                  <a:srgbClr val="14795F"/>
                </a:solidFill>
                <a:latin typeface="DejaVu Sans" pitchFamily="34" charset="0"/>
                <a:ea typeface="DejaVu Sans" pitchFamily="34" charset="-122"/>
                <a:cs typeface="DejaVu Sans" pitchFamily="34" charset="-120"/>
              </a:rPr>
              <a:t>01</a:t>
            </a:r>
            <a:endParaRPr lang="en-US" sz="1400" dirty="0"/>
          </a:p>
        </p:txBody>
      </p:sp>
      <p:sp>
        <p:nvSpPr>
          <p:cNvPr id="15" name="Text 12"/>
          <p:cNvSpPr/>
          <p:nvPr/>
        </p:nvSpPr>
        <p:spPr>
          <a:xfrm>
            <a:off x="728133" y="3539067"/>
            <a:ext cx="3175000" cy="331470"/>
          </a:xfrm>
          <a:prstGeom prst="rect">
            <a:avLst/>
          </a:prstGeom>
          <a:noFill/>
          <a:ln/>
        </p:spPr>
        <p:txBody>
          <a:bodyPr wrap="square" lIns="0" tIns="0" rIns="0" bIns="0" rtlCol="0" anchor="t"/>
          <a:lstStyle/>
          <a:p>
            <a:pPr algn="l" indent="0" marL="0">
              <a:buNone/>
            </a:pPr>
            <a:r>
              <a:rPr lang="en-US" sz="1800" b="1" dirty="0">
                <a:solidFill>
                  <a:srgbClr val="1A1815"/>
                </a:solidFill>
                <a:latin typeface="DejaVu Sans" pitchFamily="34" charset="0"/>
                <a:ea typeface="DejaVu Sans" pitchFamily="34" charset="-122"/>
                <a:cs typeface="DejaVu Sans" pitchFamily="34" charset="-120"/>
              </a:rPr>
              <a:t>Repeat decisions</a:t>
            </a:r>
            <a:endParaRPr lang="en-US" sz="1800" dirty="0"/>
          </a:p>
        </p:txBody>
      </p:sp>
      <p:sp>
        <p:nvSpPr>
          <p:cNvPr id="16" name="Text 13"/>
          <p:cNvSpPr/>
          <p:nvPr/>
        </p:nvSpPr>
        <p:spPr>
          <a:xfrm>
            <a:off x="728133" y="3970867"/>
            <a:ext cx="3175000" cy="575733"/>
          </a:xfrm>
          <a:prstGeom prst="rect">
            <a:avLst/>
          </a:prstGeom>
          <a:noFill/>
          <a:ln/>
        </p:spPr>
        <p:txBody>
          <a:bodyPr wrap="square" lIns="0" tIns="0" rIns="0" bIns="0" rtlCol="0" anchor="t"/>
          <a:lstStyle/>
          <a:p>
            <a:pPr algn="l" indent="0" marL="0">
              <a:buNone/>
            </a:pPr>
            <a:r>
              <a:rPr lang="en-US" sz="1467" dirty="0">
                <a:solidFill>
                  <a:srgbClr val="5C574E"/>
                </a:solidFill>
                <a:latin typeface="DejaVu Sans" pitchFamily="34" charset="0"/>
                <a:ea typeface="DejaVu Sans" pitchFamily="34" charset="-122"/>
                <a:cs typeface="DejaVu Sans" pitchFamily="34" charset="-120"/>
              </a:rPr>
              <a:t>Every incoming payment</a:t>
            </a:r>
            <a:endParaRPr lang="en-US" sz="1467" dirty="0"/>
          </a:p>
          <a:p>
            <a:pPr algn="l" indent="0" marL="0">
              <a:buNone/>
            </a:pPr>
            <a:r>
              <a:rPr lang="en-US" sz="1467" dirty="0">
                <a:solidFill>
                  <a:srgbClr val="5C574E"/>
                </a:solidFill>
                <a:latin typeface="DejaVu Sans" pitchFamily="34" charset="0"/>
                <a:ea typeface="DejaVu Sans" pitchFamily="34" charset="-122"/>
                <a:cs typeface="DejaVu Sans" pitchFamily="34" charset="-120"/>
              </a:rPr>
              <a:t>means allocating again.</a:t>
            </a:r>
            <a:endParaRPr lang="en-US" sz="1467" dirty="0"/>
          </a:p>
        </p:txBody>
      </p:sp>
      <p:sp>
        <p:nvSpPr>
          <p:cNvPr id="17" name="Shape 14"/>
          <p:cNvSpPr/>
          <p:nvPr/>
        </p:nvSpPr>
        <p:spPr>
          <a:xfrm>
            <a:off x="4318000" y="3073400"/>
            <a:ext cx="3556000" cy="1540933"/>
          </a:xfrm>
          <a:prstGeom prst="rect">
            <a:avLst/>
          </a:prstGeom>
          <a:solidFill>
            <a:srgbClr val="F6F2E9"/>
          </a:solidFill>
          <a:ln w="12700">
            <a:solidFill>
              <a:srgbClr val="F6F2E9"/>
            </a:solidFill>
            <a:prstDash val="solid"/>
          </a:ln>
        </p:spPr>
      </p:sp>
      <p:sp>
        <p:nvSpPr>
          <p:cNvPr id="18" name="Text 15"/>
          <p:cNvSpPr/>
          <p:nvPr/>
        </p:nvSpPr>
        <p:spPr>
          <a:xfrm>
            <a:off x="4504267" y="3208867"/>
            <a:ext cx="592667" cy="257810"/>
          </a:xfrm>
          <a:prstGeom prst="rect">
            <a:avLst/>
          </a:prstGeom>
          <a:noFill/>
          <a:ln/>
        </p:spPr>
        <p:txBody>
          <a:bodyPr wrap="square" lIns="0" tIns="0" rIns="0" bIns="0" rtlCol="0" anchor="t"/>
          <a:lstStyle/>
          <a:p>
            <a:pPr algn="l" indent="0" marL="0">
              <a:buNone/>
            </a:pPr>
            <a:r>
              <a:rPr lang="en-US" sz="1400" b="1" dirty="0">
                <a:solidFill>
                  <a:srgbClr val="14795F"/>
                </a:solidFill>
                <a:latin typeface="DejaVu Sans" pitchFamily="34" charset="0"/>
                <a:ea typeface="DejaVu Sans" pitchFamily="34" charset="-122"/>
                <a:cs typeface="DejaVu Sans" pitchFamily="34" charset="-120"/>
              </a:rPr>
              <a:t>02</a:t>
            </a:r>
            <a:endParaRPr lang="en-US" sz="1400" dirty="0"/>
          </a:p>
        </p:txBody>
      </p:sp>
      <p:sp>
        <p:nvSpPr>
          <p:cNvPr id="19" name="Text 16"/>
          <p:cNvSpPr/>
          <p:nvPr/>
        </p:nvSpPr>
        <p:spPr>
          <a:xfrm>
            <a:off x="4504267" y="3539067"/>
            <a:ext cx="3175000" cy="331470"/>
          </a:xfrm>
          <a:prstGeom prst="rect">
            <a:avLst/>
          </a:prstGeom>
          <a:noFill/>
          <a:ln/>
        </p:spPr>
        <p:txBody>
          <a:bodyPr wrap="square" lIns="0" tIns="0" rIns="0" bIns="0" rtlCol="0" anchor="t"/>
          <a:lstStyle/>
          <a:p>
            <a:pPr algn="l" indent="0" marL="0">
              <a:buNone/>
            </a:pPr>
            <a:r>
              <a:rPr lang="en-US" sz="1800" b="1" dirty="0">
                <a:solidFill>
                  <a:srgbClr val="1A1815"/>
                </a:solidFill>
                <a:latin typeface="DejaVu Sans" pitchFamily="34" charset="0"/>
                <a:ea typeface="DejaVu Sans" pitchFamily="34" charset="-122"/>
                <a:cs typeface="DejaVu Sans" pitchFamily="34" charset="-120"/>
              </a:rPr>
              <a:t>Manual execution</a:t>
            </a:r>
            <a:endParaRPr lang="en-US" sz="1800" dirty="0"/>
          </a:p>
        </p:txBody>
      </p:sp>
      <p:sp>
        <p:nvSpPr>
          <p:cNvPr id="20" name="Text 17"/>
          <p:cNvSpPr/>
          <p:nvPr/>
        </p:nvSpPr>
        <p:spPr>
          <a:xfrm>
            <a:off x="4504267" y="3970867"/>
            <a:ext cx="3175000" cy="575733"/>
          </a:xfrm>
          <a:prstGeom prst="rect">
            <a:avLst/>
          </a:prstGeom>
          <a:noFill/>
          <a:ln/>
        </p:spPr>
        <p:txBody>
          <a:bodyPr wrap="square" lIns="0" tIns="0" rIns="0" bIns="0" rtlCol="0" anchor="t"/>
          <a:lstStyle/>
          <a:p>
            <a:pPr algn="l" indent="0" marL="0">
              <a:buNone/>
            </a:pPr>
            <a:r>
              <a:rPr lang="en-US" sz="1467" dirty="0">
                <a:solidFill>
                  <a:srgbClr val="5C574E"/>
                </a:solidFill>
                <a:latin typeface="DejaVu Sans" pitchFamily="34" charset="0"/>
                <a:ea typeface="DejaVu Sans" pitchFamily="34" charset="-122"/>
                <a:cs typeface="DejaVu Sans" pitchFamily="34" charset="-120"/>
              </a:rPr>
              <a:t>Someone must return</a:t>
            </a:r>
            <a:endParaRPr lang="en-US" sz="1467" dirty="0"/>
          </a:p>
          <a:p>
            <a:pPr algn="l" indent="0" marL="0">
              <a:buNone/>
            </a:pPr>
            <a:r>
              <a:rPr lang="en-US" sz="1467" dirty="0">
                <a:solidFill>
                  <a:srgbClr val="5C574E"/>
                </a:solidFill>
                <a:latin typeface="DejaVu Sans" pitchFamily="34" charset="0"/>
                <a:ea typeface="DejaVu Sans" pitchFamily="34" charset="-122"/>
                <a:cs typeface="DejaVu Sans" pitchFamily="34" charset="-120"/>
              </a:rPr>
              <a:t>to the wallet to act.</a:t>
            </a:r>
            <a:endParaRPr lang="en-US" sz="1467" dirty="0"/>
          </a:p>
        </p:txBody>
      </p:sp>
      <p:sp>
        <p:nvSpPr>
          <p:cNvPr id="21" name="Shape 18"/>
          <p:cNvSpPr/>
          <p:nvPr/>
        </p:nvSpPr>
        <p:spPr>
          <a:xfrm>
            <a:off x="8094133" y="3073400"/>
            <a:ext cx="3556000" cy="1540933"/>
          </a:xfrm>
          <a:prstGeom prst="rect">
            <a:avLst/>
          </a:prstGeom>
          <a:solidFill>
            <a:srgbClr val="F6F2E9"/>
          </a:solidFill>
          <a:ln w="12700">
            <a:solidFill>
              <a:srgbClr val="F6F2E9"/>
            </a:solidFill>
            <a:prstDash val="solid"/>
          </a:ln>
        </p:spPr>
      </p:sp>
      <p:sp>
        <p:nvSpPr>
          <p:cNvPr id="22" name="Text 19"/>
          <p:cNvSpPr/>
          <p:nvPr/>
        </p:nvSpPr>
        <p:spPr>
          <a:xfrm>
            <a:off x="8280400" y="3208867"/>
            <a:ext cx="592667" cy="257810"/>
          </a:xfrm>
          <a:prstGeom prst="rect">
            <a:avLst/>
          </a:prstGeom>
          <a:noFill/>
          <a:ln/>
        </p:spPr>
        <p:txBody>
          <a:bodyPr wrap="square" lIns="0" tIns="0" rIns="0" bIns="0" rtlCol="0" anchor="t"/>
          <a:lstStyle/>
          <a:p>
            <a:pPr algn="l" indent="0" marL="0">
              <a:buNone/>
            </a:pPr>
            <a:r>
              <a:rPr lang="en-US" sz="1400" b="1" dirty="0">
                <a:solidFill>
                  <a:srgbClr val="14795F"/>
                </a:solidFill>
                <a:latin typeface="DejaVu Sans" pitchFamily="34" charset="0"/>
                <a:ea typeface="DejaVu Sans" pitchFamily="34" charset="-122"/>
                <a:cs typeface="DejaVu Sans" pitchFamily="34" charset="-120"/>
              </a:rPr>
              <a:t>03</a:t>
            </a:r>
            <a:endParaRPr lang="en-US" sz="1400" dirty="0"/>
          </a:p>
        </p:txBody>
      </p:sp>
      <p:sp>
        <p:nvSpPr>
          <p:cNvPr id="23" name="Text 20"/>
          <p:cNvSpPr/>
          <p:nvPr/>
        </p:nvSpPr>
        <p:spPr>
          <a:xfrm>
            <a:off x="8280400" y="3539067"/>
            <a:ext cx="3175000" cy="331470"/>
          </a:xfrm>
          <a:prstGeom prst="rect">
            <a:avLst/>
          </a:prstGeom>
          <a:noFill/>
          <a:ln/>
        </p:spPr>
        <p:txBody>
          <a:bodyPr wrap="square" lIns="0" tIns="0" rIns="0" bIns="0" rtlCol="0" anchor="t"/>
          <a:lstStyle/>
          <a:p>
            <a:pPr algn="l" indent="0" marL="0">
              <a:buNone/>
            </a:pPr>
            <a:r>
              <a:rPr lang="en-US" sz="1800" b="1" dirty="0">
                <a:solidFill>
                  <a:srgbClr val="1A1815"/>
                </a:solidFill>
                <a:latin typeface="DejaVu Sans" pitchFamily="34" charset="0"/>
                <a:ea typeface="DejaVu Sans" pitchFamily="34" charset="-122"/>
                <a:cs typeface="DejaVu Sans" pitchFamily="34" charset="-120"/>
              </a:rPr>
              <a:t>Broad permissions</a:t>
            </a:r>
            <a:endParaRPr lang="en-US" sz="1800" dirty="0"/>
          </a:p>
        </p:txBody>
      </p:sp>
      <p:sp>
        <p:nvSpPr>
          <p:cNvPr id="24" name="Text 21"/>
          <p:cNvSpPr/>
          <p:nvPr/>
        </p:nvSpPr>
        <p:spPr>
          <a:xfrm>
            <a:off x="8280400" y="3970867"/>
            <a:ext cx="3175000" cy="575733"/>
          </a:xfrm>
          <a:prstGeom prst="rect">
            <a:avLst/>
          </a:prstGeom>
          <a:noFill/>
          <a:ln/>
        </p:spPr>
        <p:txBody>
          <a:bodyPr wrap="square" lIns="0" tIns="0" rIns="0" bIns="0" rtlCol="0" anchor="t"/>
          <a:lstStyle/>
          <a:p>
            <a:pPr algn="l" indent="0" marL="0">
              <a:buNone/>
            </a:pPr>
            <a:r>
              <a:rPr lang="en-US" sz="1467" dirty="0">
                <a:solidFill>
                  <a:srgbClr val="5C574E"/>
                </a:solidFill>
                <a:latin typeface="DejaVu Sans" pitchFamily="34" charset="0"/>
                <a:ea typeface="DejaVu Sans" pitchFamily="34" charset="-122"/>
                <a:cs typeface="DejaVu Sans" pitchFamily="34" charset="-120"/>
              </a:rPr>
              <a:t>A funded bot controls</a:t>
            </a:r>
            <a:endParaRPr lang="en-US" sz="1467" dirty="0"/>
          </a:p>
          <a:p>
            <a:pPr algn="l" indent="0" marL="0">
              <a:buNone/>
            </a:pPr>
            <a:r>
              <a:rPr lang="en-US" sz="1467" dirty="0">
                <a:solidFill>
                  <a:srgbClr val="5C574E"/>
                </a:solidFill>
                <a:latin typeface="DejaVu Sans" pitchFamily="34" charset="0"/>
                <a:ea typeface="DejaVu Sans" pitchFamily="34" charset="-122"/>
                <a:cs typeface="DejaVu Sans" pitchFamily="34" charset="-120"/>
              </a:rPr>
              <a:t>the budget it receives.</a:t>
            </a:r>
            <a:endParaRPr lang="en-US" sz="1467" dirty="0"/>
          </a:p>
        </p:txBody>
      </p:sp>
      <p:sp>
        <p:nvSpPr>
          <p:cNvPr id="25" name="Text 22"/>
          <p:cNvSpPr/>
          <p:nvPr/>
        </p:nvSpPr>
        <p:spPr>
          <a:xfrm>
            <a:off x="575733" y="4936067"/>
            <a:ext cx="11006667" cy="208703"/>
          </a:xfrm>
          <a:prstGeom prst="rect">
            <a:avLst/>
          </a:prstGeom>
          <a:noFill/>
          <a:ln/>
        </p:spPr>
        <p:txBody>
          <a:bodyPr wrap="square" lIns="0" tIns="0" rIns="0" bIns="0" rtlCol="0" anchor="t"/>
          <a:lstStyle/>
          <a:p>
            <a:pPr algn="l" indent="0" marL="0">
              <a:buNone/>
            </a:pPr>
            <a:r>
              <a:rPr lang="en-US" sz="1133" b="1" dirty="0">
                <a:solidFill>
                  <a:srgbClr val="5C574E"/>
                </a:solidFill>
                <a:latin typeface="DejaVu Sans" pitchFamily="34" charset="0"/>
                <a:ea typeface="DejaVu Sans" pitchFamily="34" charset="-122"/>
                <a:cs typeface="DejaVu Sans" pitchFamily="34" charset="-120"/>
              </a:rPr>
              <a:t>ILLUSTRATIVE FREELANCER RULE</a:t>
            </a:r>
            <a:endParaRPr lang="en-US" sz="1133" dirty="0"/>
          </a:p>
        </p:txBody>
      </p:sp>
      <p:sp>
        <p:nvSpPr>
          <p:cNvPr id="26" name="Text 23"/>
          <p:cNvSpPr/>
          <p:nvPr/>
        </p:nvSpPr>
        <p:spPr>
          <a:xfrm>
            <a:off x="575733" y="5223933"/>
            <a:ext cx="11006667" cy="380577"/>
          </a:xfrm>
          <a:prstGeom prst="rect">
            <a:avLst/>
          </a:prstGeom>
          <a:noFill/>
          <a:ln/>
        </p:spPr>
        <p:txBody>
          <a:bodyPr wrap="square" lIns="0" tIns="0" rIns="0" bIns="0" rtlCol="0" anchor="t"/>
          <a:lstStyle/>
          <a:p>
            <a:pPr algn="l" indent="0" marL="0">
              <a:buNone/>
            </a:pPr>
            <a:r>
              <a:rPr lang="en-US" sz="2067" b="1" dirty="0">
                <a:solidFill>
                  <a:srgbClr val="1A1815"/>
                </a:solidFill>
                <a:latin typeface="DejaVu Sans" pitchFamily="34" charset="0"/>
                <a:ea typeface="DejaVu Sans" pitchFamily="34" charset="-122"/>
                <a:cs typeface="DejaVu Sans" pitchFamily="34" charset="-120"/>
              </a:rPr>
              <a:t>100 USDC arrives → 40% XLM + 30% AQUA + 30% USDC</a:t>
            </a:r>
            <a:endParaRPr lang="en-US" sz="2067" dirty="0"/>
          </a:p>
        </p:txBody>
      </p:sp>
      <p:sp>
        <p:nvSpPr>
          <p:cNvPr id="27" name="Text 24"/>
          <p:cNvSpPr/>
          <p:nvPr/>
        </p:nvSpPr>
        <p:spPr>
          <a:xfrm>
            <a:off x="575733" y="5782733"/>
            <a:ext cx="11091333" cy="282363"/>
          </a:xfrm>
          <a:prstGeom prst="rect">
            <a:avLst/>
          </a:prstGeom>
          <a:noFill/>
          <a:ln/>
        </p:spPr>
        <p:txBody>
          <a:bodyPr wrap="square" lIns="0" tIns="0" rIns="0" bIns="0" rtlCol="0" anchor="t"/>
          <a:lstStyle/>
          <a:p>
            <a:pPr algn="l" indent="0" marL="0">
              <a:buNone/>
            </a:pPr>
            <a:r>
              <a:rPr lang="en-US" sz="1533" dirty="0">
                <a:solidFill>
                  <a:srgbClr val="5C574E"/>
                </a:solidFill>
                <a:latin typeface="DejaVu Sans" pitchFamily="34" charset="0"/>
                <a:ea typeface="DejaVu Sans" pitchFamily="34" charset="-122"/>
                <a:cs typeface="DejaVu Sans" pitchFamily="34" charset="-120"/>
              </a:rPr>
              <a:t>PMF hypothesis: recurring allocation is valuable enough for repeat use.</a:t>
            </a:r>
            <a:endParaRPr lang="en-US" sz="153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7E2D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7E2D6"/>
          </a:solidFill>
          <a:ln w="12700">
            <a:solidFill>
              <a:srgbClr val="E7E2D6"/>
            </a:solidFill>
            <a:prstDash val="solid"/>
          </a:ln>
        </p:spPr>
      </p:sp>
      <p:pic>
        <p:nvPicPr>
          <p:cNvPr id="3" name="Image 0" descr="/home/murat/conduit/docs/pitch/assets/template-paper.png">    </p:cNvPr>
          <p:cNvPicPr>
            <a:picLocks noChangeAspect="1"/>
          </p:cNvPicPr>
          <p:nvPr/>
        </p:nvPicPr>
        <p:blipFill>
          <a:blip r:embed="rId1"/>
          <a:stretch>
            <a:fillRect/>
          </a:stretch>
        </p:blipFill>
        <p:spPr>
          <a:xfrm>
            <a:off x="0" y="0"/>
            <a:ext cx="12192000" cy="6858000"/>
          </a:xfrm>
          <a:prstGeom prst="rect">
            <a:avLst/>
          </a:prstGeom>
        </p:spPr>
      </p:pic>
      <p:sp>
        <p:nvSpPr>
          <p:cNvPr id="4" name="Text 1"/>
          <p:cNvSpPr/>
          <p:nvPr/>
        </p:nvSpPr>
        <p:spPr>
          <a:xfrm>
            <a:off x="541867" y="262467"/>
            <a:ext cx="2540000" cy="220980"/>
          </a:xfrm>
          <a:prstGeom prst="rect">
            <a:avLst/>
          </a:prstGeom>
          <a:noFill/>
          <a:ln/>
        </p:spPr>
        <p:txBody>
          <a:bodyPr wrap="square" lIns="0" tIns="0" rIns="0" bIns="0" rtlCol="0" anchor="t"/>
          <a:lstStyle/>
          <a:p>
            <a:pPr algn="l" indent="0" marL="0">
              <a:buNone/>
            </a:pPr>
            <a:r>
              <a:rPr lang="en-US" sz="1200" b="1" dirty="0">
                <a:solidFill>
                  <a:srgbClr val="1A1815"/>
                </a:solidFill>
                <a:latin typeface="DejaVu Sans" pitchFamily="34" charset="0"/>
                <a:ea typeface="DejaVu Sans" pitchFamily="34" charset="-122"/>
                <a:cs typeface="DejaVu Sans" pitchFamily="34" charset="-120"/>
              </a:rPr>
              <a:t>CONDUIT</a:t>
            </a:r>
            <a:endParaRPr lang="en-US" sz="1200" dirty="0"/>
          </a:p>
        </p:txBody>
      </p:sp>
      <p:sp>
        <p:nvSpPr>
          <p:cNvPr id="5" name="Text 2"/>
          <p:cNvSpPr/>
          <p:nvPr/>
        </p:nvSpPr>
        <p:spPr>
          <a:xfrm>
            <a:off x="7450667" y="279400"/>
            <a:ext cx="4199467" cy="196427"/>
          </a:xfrm>
          <a:prstGeom prst="rect">
            <a:avLst/>
          </a:prstGeom>
          <a:noFill/>
          <a:ln/>
        </p:spPr>
        <p:txBody>
          <a:bodyPr wrap="square" lIns="0" tIns="0" rIns="0" bIns="0" rtlCol="0" anchor="t"/>
          <a:lstStyle/>
          <a:p>
            <a:pPr algn="r" indent="0" marL="0">
              <a:buNone/>
            </a:pPr>
            <a:r>
              <a:rPr lang="en-US" sz="1067" dirty="0">
                <a:solidFill>
                  <a:srgbClr val="1A1815"/>
                </a:solidFill>
                <a:latin typeface="DejaVu Sans" pitchFamily="34" charset="0"/>
                <a:ea typeface="DejaVu Sans" pitchFamily="34" charset="-122"/>
                <a:cs typeface="DejaVu Sans" pitchFamily="34" charset="-120"/>
              </a:rPr>
              <a:t>BUILD ON STELLAR  /  HACKATHON</a:t>
            </a:r>
            <a:endParaRPr lang="en-US" sz="1067" dirty="0"/>
          </a:p>
        </p:txBody>
      </p:sp>
      <p:sp>
        <p:nvSpPr>
          <p:cNvPr id="6" name="Shape 3"/>
          <p:cNvSpPr/>
          <p:nvPr/>
        </p:nvSpPr>
        <p:spPr>
          <a:xfrm>
            <a:off x="541867" y="812800"/>
            <a:ext cx="11108267" cy="778933"/>
          </a:xfrm>
          <a:prstGeom prst="rect">
            <a:avLst/>
          </a:prstGeom>
          <a:solidFill>
            <a:srgbClr val="DDA322"/>
          </a:solidFill>
          <a:ln w="12700">
            <a:solidFill>
              <a:srgbClr val="DDA322"/>
            </a:solidFill>
            <a:prstDash val="solid"/>
          </a:ln>
        </p:spPr>
      </p:sp>
      <p:sp>
        <p:nvSpPr>
          <p:cNvPr id="7" name="Text 4"/>
          <p:cNvSpPr/>
          <p:nvPr/>
        </p:nvSpPr>
        <p:spPr>
          <a:xfrm>
            <a:off x="711200" y="880533"/>
            <a:ext cx="10668000" cy="675217"/>
          </a:xfrm>
          <a:prstGeom prst="rect">
            <a:avLst/>
          </a:prstGeom>
          <a:noFill/>
          <a:ln/>
        </p:spPr>
        <p:txBody>
          <a:bodyPr wrap="square" lIns="0" tIns="0" rIns="0" bIns="0" rtlCol="0" anchor="t"/>
          <a:lstStyle/>
          <a:p>
            <a:pPr algn="l" indent="0" marL="0">
              <a:buNone/>
            </a:pPr>
            <a:r>
              <a:rPr lang="en-US" sz="3667" b="1" dirty="0">
                <a:solidFill>
                  <a:srgbClr val="1A1815"/>
                </a:solidFill>
                <a:latin typeface="DejaVu Sans" pitchFamily="34" charset="0"/>
                <a:ea typeface="DejaVu Sans" pitchFamily="34" charset="-122"/>
                <a:cs typeface="DejaVu Sans" pitchFamily="34" charset="-120"/>
              </a:rPr>
              <a:t>TECHNICAL WORKFLOW</a:t>
            </a:r>
            <a:endParaRPr lang="en-US" sz="3667" dirty="0"/>
          </a:p>
        </p:txBody>
      </p:sp>
      <p:sp>
        <p:nvSpPr>
          <p:cNvPr id="8" name="Shape 5"/>
          <p:cNvSpPr/>
          <p:nvPr/>
        </p:nvSpPr>
        <p:spPr>
          <a:xfrm>
            <a:off x="541867" y="6316133"/>
            <a:ext cx="11108267" cy="0"/>
          </a:xfrm>
          <a:prstGeom prst="line">
            <a:avLst/>
          </a:prstGeom>
          <a:noFill/>
          <a:ln w="6773">
            <a:solidFill>
              <a:srgbClr val="5C574E"/>
            </a:solidFill>
            <a:prstDash val="solid"/>
          </a:ln>
        </p:spPr>
      </p:sp>
      <p:sp>
        <p:nvSpPr>
          <p:cNvPr id="9" name="Text 6"/>
          <p:cNvSpPr/>
          <p:nvPr/>
        </p:nvSpPr>
        <p:spPr>
          <a:xfrm>
            <a:off x="541867" y="6468533"/>
            <a:ext cx="5503333" cy="171873"/>
          </a:xfrm>
          <a:prstGeom prst="rect">
            <a:avLst/>
          </a:prstGeom>
          <a:noFill/>
          <a:ln/>
        </p:spPr>
        <p:txBody>
          <a:bodyPr wrap="square" lIns="0" tIns="0" rIns="0" bIns="0" rtlCol="0" anchor="t"/>
          <a:lstStyle/>
          <a:p>
            <a:pPr algn="l" indent="0" marL="0">
              <a:buNone/>
            </a:pPr>
            <a:r>
              <a:rPr lang="en-US" sz="933" dirty="0">
                <a:solidFill>
                  <a:srgbClr val="5C574E"/>
                </a:solidFill>
                <a:latin typeface="DejaVu Sans" pitchFamily="34" charset="0"/>
                <a:ea typeface="DejaVu Sans" pitchFamily="34" charset="-122"/>
                <a:cs typeface="DejaVu Sans" pitchFamily="34" charset="-120"/>
              </a:rPr>
              <a:t>TECHNICAL WORKFLOW</a:t>
            </a:r>
            <a:endParaRPr lang="en-US" sz="933" dirty="0"/>
          </a:p>
        </p:txBody>
      </p:sp>
      <p:sp>
        <p:nvSpPr>
          <p:cNvPr id="10" name="Text 7"/>
          <p:cNvSpPr/>
          <p:nvPr/>
        </p:nvSpPr>
        <p:spPr>
          <a:xfrm>
            <a:off x="8940800" y="6468533"/>
            <a:ext cx="2709333" cy="171873"/>
          </a:xfrm>
          <a:prstGeom prst="rect">
            <a:avLst/>
          </a:prstGeom>
          <a:noFill/>
          <a:ln/>
        </p:spPr>
        <p:txBody>
          <a:bodyPr wrap="square" lIns="0" tIns="0" rIns="0" bIns="0" rtlCol="0" anchor="t"/>
          <a:lstStyle/>
          <a:p>
            <a:pPr algn="r" indent="0" marL="0">
              <a:buNone/>
            </a:pPr>
            <a:r>
              <a:rPr lang="en-US" sz="933" dirty="0">
                <a:solidFill>
                  <a:srgbClr val="5C574E"/>
                </a:solidFill>
                <a:latin typeface="DejaVu Sans" pitchFamily="34" charset="0"/>
                <a:ea typeface="DejaVu Sans" pitchFamily="34" charset="-122"/>
                <a:cs typeface="DejaVu Sans" pitchFamily="34" charset="-120"/>
              </a:rPr>
              <a:t>STELLAR TESTNET   /   04</a:t>
            </a:r>
            <a:endParaRPr lang="en-US" sz="933" dirty="0"/>
          </a:p>
        </p:txBody>
      </p:sp>
      <p:sp>
        <p:nvSpPr>
          <p:cNvPr id="11" name="Text 8"/>
          <p:cNvSpPr/>
          <p:nvPr/>
        </p:nvSpPr>
        <p:spPr>
          <a:xfrm>
            <a:off x="541867" y="1862667"/>
            <a:ext cx="11006667" cy="540173"/>
          </a:xfrm>
          <a:prstGeom prst="rect">
            <a:avLst/>
          </a:prstGeom>
          <a:noFill/>
          <a:ln/>
        </p:spPr>
        <p:txBody>
          <a:bodyPr wrap="square" lIns="0" tIns="0" rIns="0" bIns="0" rtlCol="0" anchor="t"/>
          <a:lstStyle/>
          <a:p>
            <a:pPr algn="l" indent="0" marL="0">
              <a:buNone/>
            </a:pPr>
            <a:r>
              <a:rPr lang="en-US" sz="2933" b="1" dirty="0">
                <a:solidFill>
                  <a:srgbClr val="1A1815"/>
                </a:solidFill>
                <a:latin typeface="DejaVu Sans" pitchFamily="34" charset="0"/>
                <a:ea typeface="DejaVu Sans" pitchFamily="34" charset="-122"/>
                <a:cs typeface="DejaVu Sans" pitchFamily="34" charset="-120"/>
              </a:rPr>
              <a:t>From a deposit to a bounded swap.</a:t>
            </a:r>
            <a:endParaRPr lang="en-US" sz="2933" dirty="0"/>
          </a:p>
        </p:txBody>
      </p:sp>
      <p:sp>
        <p:nvSpPr>
          <p:cNvPr id="12" name="Shape 9"/>
          <p:cNvSpPr/>
          <p:nvPr/>
        </p:nvSpPr>
        <p:spPr>
          <a:xfrm>
            <a:off x="541867" y="2709333"/>
            <a:ext cx="2523067" cy="1557867"/>
          </a:xfrm>
          <a:prstGeom prst="rect">
            <a:avLst/>
          </a:prstGeom>
          <a:solidFill>
            <a:srgbClr val="F6F2E9"/>
          </a:solidFill>
          <a:ln w="12700">
            <a:solidFill>
              <a:srgbClr val="F6F2E9"/>
            </a:solidFill>
            <a:prstDash val="solid"/>
          </a:ln>
        </p:spPr>
      </p:sp>
      <p:sp>
        <p:nvSpPr>
          <p:cNvPr id="13" name="Text 10"/>
          <p:cNvSpPr/>
          <p:nvPr/>
        </p:nvSpPr>
        <p:spPr>
          <a:xfrm>
            <a:off x="711200" y="2844800"/>
            <a:ext cx="592667" cy="233257"/>
          </a:xfrm>
          <a:prstGeom prst="rect">
            <a:avLst/>
          </a:prstGeom>
          <a:noFill/>
          <a:ln/>
        </p:spPr>
        <p:txBody>
          <a:bodyPr wrap="square" lIns="0" tIns="0" rIns="0" bIns="0" rtlCol="0" anchor="t"/>
          <a:lstStyle/>
          <a:p>
            <a:pPr algn="l" indent="0" marL="0">
              <a:buNone/>
            </a:pPr>
            <a:r>
              <a:rPr lang="en-US" sz="1267" b="1" dirty="0">
                <a:solidFill>
                  <a:srgbClr val="14795F"/>
                </a:solidFill>
                <a:latin typeface="DejaVu Sans" pitchFamily="34" charset="0"/>
                <a:ea typeface="DejaVu Sans" pitchFamily="34" charset="-122"/>
                <a:cs typeface="DejaVu Sans" pitchFamily="34" charset="-120"/>
              </a:rPr>
              <a:t>1</a:t>
            </a:r>
            <a:endParaRPr lang="en-US" sz="1267" dirty="0"/>
          </a:p>
        </p:txBody>
      </p:sp>
      <p:sp>
        <p:nvSpPr>
          <p:cNvPr id="14" name="Text 11"/>
          <p:cNvSpPr/>
          <p:nvPr/>
        </p:nvSpPr>
        <p:spPr>
          <a:xfrm>
            <a:off x="711200" y="3183467"/>
            <a:ext cx="2243667" cy="331470"/>
          </a:xfrm>
          <a:prstGeom prst="rect">
            <a:avLst/>
          </a:prstGeom>
          <a:noFill/>
          <a:ln/>
        </p:spPr>
        <p:txBody>
          <a:bodyPr wrap="square" lIns="0" tIns="0" rIns="0" bIns="0" rtlCol="0" anchor="t"/>
          <a:lstStyle/>
          <a:p>
            <a:pPr algn="l" indent="0" marL="0">
              <a:buNone/>
            </a:pPr>
            <a:r>
              <a:rPr lang="en-US" sz="1800" b="1" dirty="0">
                <a:solidFill>
                  <a:srgbClr val="1A1815"/>
                </a:solidFill>
                <a:latin typeface="DejaVu Sans" pitchFamily="34" charset="0"/>
                <a:ea typeface="DejaVu Sans" pitchFamily="34" charset="-122"/>
                <a:cs typeface="DejaVu Sans" pitchFamily="34" charset="-120"/>
              </a:rPr>
              <a:t>TRY deposit</a:t>
            </a:r>
            <a:endParaRPr lang="en-US" sz="1800" dirty="0"/>
          </a:p>
        </p:txBody>
      </p:sp>
      <p:sp>
        <p:nvSpPr>
          <p:cNvPr id="15" name="Text 12"/>
          <p:cNvSpPr/>
          <p:nvPr/>
        </p:nvSpPr>
        <p:spPr>
          <a:xfrm>
            <a:off x="711200" y="3564467"/>
            <a:ext cx="2243667" cy="270087"/>
          </a:xfrm>
          <a:prstGeom prst="rect">
            <a:avLst/>
          </a:prstGeom>
          <a:noFill/>
          <a:ln/>
        </p:spPr>
        <p:txBody>
          <a:bodyPr wrap="square" lIns="0" tIns="0" rIns="0" bIns="0" rtlCol="0" anchor="t"/>
          <a:lstStyle/>
          <a:p>
            <a:pPr algn="l" indent="0" marL="0">
              <a:buNone/>
            </a:pPr>
            <a:r>
              <a:rPr lang="en-US" sz="1467" dirty="0">
                <a:solidFill>
                  <a:srgbClr val="1A1815"/>
                </a:solidFill>
                <a:latin typeface="DejaVu Sans" pitchFamily="34" charset="0"/>
                <a:ea typeface="DejaVu Sans" pitchFamily="34" charset="-122"/>
                <a:cs typeface="DejaVu Sans" pitchFamily="34" charset="-120"/>
              </a:rPr>
              <a:t>Mock anchor</a:t>
            </a:r>
            <a:endParaRPr lang="en-US" sz="1467" dirty="0"/>
          </a:p>
        </p:txBody>
      </p:sp>
      <p:sp>
        <p:nvSpPr>
          <p:cNvPr id="16" name="Text 13"/>
          <p:cNvSpPr/>
          <p:nvPr/>
        </p:nvSpPr>
        <p:spPr>
          <a:xfrm>
            <a:off x="711200" y="3911600"/>
            <a:ext cx="2269067" cy="196427"/>
          </a:xfrm>
          <a:prstGeom prst="rect">
            <a:avLst/>
          </a:prstGeom>
          <a:noFill/>
          <a:ln/>
        </p:spPr>
        <p:txBody>
          <a:bodyPr wrap="square" lIns="0" tIns="0" rIns="0" bIns="0" rtlCol="0" anchor="t"/>
          <a:lstStyle/>
          <a:p>
            <a:pPr algn="l" indent="0" marL="0">
              <a:buNone/>
            </a:pPr>
            <a:r>
              <a:rPr lang="en-US" sz="1067" dirty="0">
                <a:solidFill>
                  <a:srgbClr val="5C574E"/>
                </a:solidFill>
                <a:latin typeface="DejaVu Sans" pitchFamily="34" charset="0"/>
                <a:ea typeface="DejaVu Sans" pitchFamily="34" charset="-122"/>
                <a:cs typeface="DejaVu Sans" pitchFamily="34" charset="-120"/>
              </a:rPr>
              <a:t>SEP-10 / 12 / 38 / 6</a:t>
            </a:r>
            <a:endParaRPr lang="en-US" sz="1067" dirty="0"/>
          </a:p>
        </p:txBody>
      </p:sp>
      <p:sp>
        <p:nvSpPr>
          <p:cNvPr id="17" name="Shape 14"/>
          <p:cNvSpPr/>
          <p:nvPr/>
        </p:nvSpPr>
        <p:spPr>
          <a:xfrm>
            <a:off x="3107267" y="3462867"/>
            <a:ext cx="254000" cy="0"/>
          </a:xfrm>
          <a:prstGeom prst="line">
            <a:avLst/>
          </a:prstGeom>
          <a:noFill/>
          <a:ln w="16933">
            <a:solidFill>
              <a:srgbClr val="5C574E"/>
            </a:solidFill>
            <a:prstDash val="solid"/>
          </a:ln>
        </p:spPr>
      </p:sp>
      <p:sp>
        <p:nvSpPr>
          <p:cNvPr id="18" name="Shape 15"/>
          <p:cNvSpPr/>
          <p:nvPr/>
        </p:nvSpPr>
        <p:spPr>
          <a:xfrm>
            <a:off x="3285067" y="3403600"/>
            <a:ext cx="76200" cy="59267"/>
          </a:xfrm>
          <a:prstGeom prst="line">
            <a:avLst/>
          </a:prstGeom>
          <a:noFill/>
          <a:ln w="16933">
            <a:solidFill>
              <a:srgbClr val="5C574E"/>
            </a:solidFill>
            <a:prstDash val="solid"/>
          </a:ln>
        </p:spPr>
      </p:sp>
      <p:sp>
        <p:nvSpPr>
          <p:cNvPr id="19" name="Shape 16"/>
          <p:cNvSpPr/>
          <p:nvPr/>
        </p:nvSpPr>
        <p:spPr>
          <a:xfrm>
            <a:off x="3285067" y="3522133"/>
            <a:ext cx="76200" cy="-59267"/>
          </a:xfrm>
          <a:prstGeom prst="line">
            <a:avLst/>
          </a:prstGeom>
          <a:noFill/>
          <a:ln w="16933">
            <a:solidFill>
              <a:srgbClr val="5C574E"/>
            </a:solidFill>
            <a:prstDash val="solid"/>
          </a:ln>
        </p:spPr>
      </p:sp>
      <p:sp>
        <p:nvSpPr>
          <p:cNvPr id="20" name="Shape 17"/>
          <p:cNvSpPr/>
          <p:nvPr/>
        </p:nvSpPr>
        <p:spPr>
          <a:xfrm>
            <a:off x="3403600" y="2709333"/>
            <a:ext cx="2523067" cy="1557867"/>
          </a:xfrm>
          <a:prstGeom prst="rect">
            <a:avLst/>
          </a:prstGeom>
          <a:solidFill>
            <a:srgbClr val="F6F2E9"/>
          </a:solidFill>
          <a:ln w="12700">
            <a:solidFill>
              <a:srgbClr val="F6F2E9"/>
            </a:solidFill>
            <a:prstDash val="solid"/>
          </a:ln>
        </p:spPr>
      </p:sp>
      <p:sp>
        <p:nvSpPr>
          <p:cNvPr id="21" name="Text 18"/>
          <p:cNvSpPr/>
          <p:nvPr/>
        </p:nvSpPr>
        <p:spPr>
          <a:xfrm>
            <a:off x="3572933" y="2844800"/>
            <a:ext cx="592667" cy="233257"/>
          </a:xfrm>
          <a:prstGeom prst="rect">
            <a:avLst/>
          </a:prstGeom>
          <a:noFill/>
          <a:ln/>
        </p:spPr>
        <p:txBody>
          <a:bodyPr wrap="square" lIns="0" tIns="0" rIns="0" bIns="0" rtlCol="0" anchor="t"/>
          <a:lstStyle/>
          <a:p>
            <a:pPr algn="l" indent="0" marL="0">
              <a:buNone/>
            </a:pPr>
            <a:r>
              <a:rPr lang="en-US" sz="1267" b="1" dirty="0">
                <a:solidFill>
                  <a:srgbClr val="14795F"/>
                </a:solidFill>
                <a:latin typeface="DejaVu Sans" pitchFamily="34" charset="0"/>
                <a:ea typeface="DejaVu Sans" pitchFamily="34" charset="-122"/>
                <a:cs typeface="DejaVu Sans" pitchFamily="34" charset="-120"/>
              </a:rPr>
              <a:t>2</a:t>
            </a:r>
            <a:endParaRPr lang="en-US" sz="1267" dirty="0"/>
          </a:p>
        </p:txBody>
      </p:sp>
      <p:sp>
        <p:nvSpPr>
          <p:cNvPr id="22" name="Text 19"/>
          <p:cNvSpPr/>
          <p:nvPr/>
        </p:nvSpPr>
        <p:spPr>
          <a:xfrm>
            <a:off x="3572933" y="3183467"/>
            <a:ext cx="2243667" cy="331470"/>
          </a:xfrm>
          <a:prstGeom prst="rect">
            <a:avLst/>
          </a:prstGeom>
          <a:noFill/>
          <a:ln/>
        </p:spPr>
        <p:txBody>
          <a:bodyPr wrap="square" lIns="0" tIns="0" rIns="0" bIns="0" rtlCol="0" anchor="t"/>
          <a:lstStyle/>
          <a:p>
            <a:pPr algn="l" indent="0" marL="0">
              <a:buNone/>
            </a:pPr>
            <a:r>
              <a:rPr lang="en-US" sz="1800" b="1" dirty="0">
                <a:solidFill>
                  <a:srgbClr val="1A1815"/>
                </a:solidFill>
                <a:latin typeface="DejaVu Sans" pitchFamily="34" charset="0"/>
                <a:ea typeface="DejaVu Sans" pitchFamily="34" charset="-122"/>
                <a:cs typeface="DejaVu Sans" pitchFamily="34" charset="-120"/>
              </a:rPr>
              <a:t>USDC arrives</a:t>
            </a:r>
            <a:endParaRPr lang="en-US" sz="1800" dirty="0"/>
          </a:p>
        </p:txBody>
      </p:sp>
      <p:sp>
        <p:nvSpPr>
          <p:cNvPr id="23" name="Text 20"/>
          <p:cNvSpPr/>
          <p:nvPr/>
        </p:nvSpPr>
        <p:spPr>
          <a:xfrm>
            <a:off x="3572933" y="3564467"/>
            <a:ext cx="2243667" cy="270087"/>
          </a:xfrm>
          <a:prstGeom prst="rect">
            <a:avLst/>
          </a:prstGeom>
          <a:noFill/>
          <a:ln/>
        </p:spPr>
        <p:txBody>
          <a:bodyPr wrap="square" lIns="0" tIns="0" rIns="0" bIns="0" rtlCol="0" anchor="t"/>
          <a:lstStyle/>
          <a:p>
            <a:pPr algn="l" indent="0" marL="0">
              <a:buNone/>
            </a:pPr>
            <a:r>
              <a:rPr lang="en-US" sz="1467" dirty="0">
                <a:solidFill>
                  <a:srgbClr val="1A1815"/>
                </a:solidFill>
                <a:latin typeface="DejaVu Sans" pitchFamily="34" charset="0"/>
                <a:ea typeface="DejaVu Sans" pitchFamily="34" charset="-122"/>
                <a:cs typeface="DejaVu Sans" pitchFamily="34" charset="-120"/>
              </a:rPr>
              <a:t>Owner’s wallet</a:t>
            </a:r>
            <a:endParaRPr lang="en-US" sz="1467" dirty="0"/>
          </a:p>
        </p:txBody>
      </p:sp>
      <p:sp>
        <p:nvSpPr>
          <p:cNvPr id="24" name="Text 21"/>
          <p:cNvSpPr/>
          <p:nvPr/>
        </p:nvSpPr>
        <p:spPr>
          <a:xfrm>
            <a:off x="3572933" y="3911600"/>
            <a:ext cx="2269067" cy="196427"/>
          </a:xfrm>
          <a:prstGeom prst="rect">
            <a:avLst/>
          </a:prstGeom>
          <a:noFill/>
          <a:ln/>
        </p:spPr>
        <p:txBody>
          <a:bodyPr wrap="square" lIns="0" tIns="0" rIns="0" bIns="0" rtlCol="0" anchor="t"/>
          <a:lstStyle/>
          <a:p>
            <a:pPr algn="l" indent="0" marL="0">
              <a:buNone/>
            </a:pPr>
            <a:r>
              <a:rPr lang="en-US" sz="1067" dirty="0">
                <a:solidFill>
                  <a:srgbClr val="5C574E"/>
                </a:solidFill>
                <a:latin typeface="DejaVu Sans" pitchFamily="34" charset="0"/>
                <a:ea typeface="DejaVu Sans" pitchFamily="34" charset="-122"/>
                <a:cs typeface="DejaVu Sans" pitchFamily="34" charset="-120"/>
              </a:rPr>
              <a:t>Browser watcher</a:t>
            </a:r>
            <a:endParaRPr lang="en-US" sz="1067" dirty="0"/>
          </a:p>
        </p:txBody>
      </p:sp>
      <p:sp>
        <p:nvSpPr>
          <p:cNvPr id="25" name="Shape 22"/>
          <p:cNvSpPr/>
          <p:nvPr/>
        </p:nvSpPr>
        <p:spPr>
          <a:xfrm>
            <a:off x="5969000" y="3462867"/>
            <a:ext cx="254000" cy="0"/>
          </a:xfrm>
          <a:prstGeom prst="line">
            <a:avLst/>
          </a:prstGeom>
          <a:noFill/>
          <a:ln w="16933">
            <a:solidFill>
              <a:srgbClr val="5C574E"/>
            </a:solidFill>
            <a:prstDash val="solid"/>
          </a:ln>
        </p:spPr>
      </p:sp>
      <p:sp>
        <p:nvSpPr>
          <p:cNvPr id="26" name="Shape 23"/>
          <p:cNvSpPr/>
          <p:nvPr/>
        </p:nvSpPr>
        <p:spPr>
          <a:xfrm>
            <a:off x="6146800" y="3403600"/>
            <a:ext cx="76200" cy="59267"/>
          </a:xfrm>
          <a:prstGeom prst="line">
            <a:avLst/>
          </a:prstGeom>
          <a:noFill/>
          <a:ln w="16933">
            <a:solidFill>
              <a:srgbClr val="5C574E"/>
            </a:solidFill>
            <a:prstDash val="solid"/>
          </a:ln>
        </p:spPr>
      </p:sp>
      <p:sp>
        <p:nvSpPr>
          <p:cNvPr id="27" name="Shape 24"/>
          <p:cNvSpPr/>
          <p:nvPr/>
        </p:nvSpPr>
        <p:spPr>
          <a:xfrm>
            <a:off x="6146800" y="3522133"/>
            <a:ext cx="76200" cy="-59267"/>
          </a:xfrm>
          <a:prstGeom prst="line">
            <a:avLst/>
          </a:prstGeom>
          <a:noFill/>
          <a:ln w="16933">
            <a:solidFill>
              <a:srgbClr val="5C574E"/>
            </a:solidFill>
            <a:prstDash val="solid"/>
          </a:ln>
        </p:spPr>
      </p:sp>
      <p:sp>
        <p:nvSpPr>
          <p:cNvPr id="28" name="Shape 25"/>
          <p:cNvSpPr/>
          <p:nvPr/>
        </p:nvSpPr>
        <p:spPr>
          <a:xfrm>
            <a:off x="6265333" y="2709333"/>
            <a:ext cx="2523067" cy="1557867"/>
          </a:xfrm>
          <a:prstGeom prst="rect">
            <a:avLst/>
          </a:prstGeom>
          <a:solidFill>
            <a:srgbClr val="1A1815"/>
          </a:solidFill>
          <a:ln w="12700">
            <a:solidFill>
              <a:srgbClr val="1A1815"/>
            </a:solidFill>
            <a:prstDash val="solid"/>
          </a:ln>
        </p:spPr>
      </p:sp>
      <p:sp>
        <p:nvSpPr>
          <p:cNvPr id="29" name="Text 26"/>
          <p:cNvSpPr/>
          <p:nvPr/>
        </p:nvSpPr>
        <p:spPr>
          <a:xfrm>
            <a:off x="6434667" y="2844800"/>
            <a:ext cx="592667" cy="233257"/>
          </a:xfrm>
          <a:prstGeom prst="rect">
            <a:avLst/>
          </a:prstGeom>
          <a:noFill/>
          <a:ln/>
        </p:spPr>
        <p:txBody>
          <a:bodyPr wrap="square" lIns="0" tIns="0" rIns="0" bIns="0" rtlCol="0" anchor="t"/>
          <a:lstStyle/>
          <a:p>
            <a:pPr algn="l" indent="0" marL="0">
              <a:buNone/>
            </a:pPr>
            <a:r>
              <a:rPr lang="en-US" sz="1267" b="1" dirty="0">
                <a:solidFill>
                  <a:srgbClr val="DDA322"/>
                </a:solidFill>
                <a:latin typeface="DejaVu Sans" pitchFamily="34" charset="0"/>
                <a:ea typeface="DejaVu Sans" pitchFamily="34" charset="-122"/>
                <a:cs typeface="DejaVu Sans" pitchFamily="34" charset="-120"/>
              </a:rPr>
              <a:t>3</a:t>
            </a:r>
            <a:endParaRPr lang="en-US" sz="1267" dirty="0"/>
          </a:p>
        </p:txBody>
      </p:sp>
      <p:sp>
        <p:nvSpPr>
          <p:cNvPr id="30" name="Text 27"/>
          <p:cNvSpPr/>
          <p:nvPr/>
        </p:nvSpPr>
        <p:spPr>
          <a:xfrm>
            <a:off x="6434667" y="3183467"/>
            <a:ext cx="2243667" cy="331470"/>
          </a:xfrm>
          <a:prstGeom prst="rect">
            <a:avLst/>
          </a:prstGeom>
          <a:noFill/>
          <a:ln/>
        </p:spPr>
        <p:txBody>
          <a:bodyPr wrap="square" lIns="0" tIns="0" rIns="0" bIns="0" rtlCol="0" anchor="t"/>
          <a:lstStyle/>
          <a:p>
            <a:pPr algn="l" indent="0" marL="0">
              <a:buNone/>
            </a:pPr>
            <a:r>
              <a:rPr lang="en-US" sz="1800" b="1" dirty="0">
                <a:solidFill>
                  <a:srgbClr val="F6F2E9"/>
                </a:solidFill>
                <a:latin typeface="DejaVu Sans" pitchFamily="34" charset="0"/>
                <a:ea typeface="DejaVu Sans" pitchFamily="34" charset="-122"/>
                <a:cs typeface="DejaVu Sans" pitchFamily="34" charset="-120"/>
              </a:rPr>
              <a:t>Mandate checks</a:t>
            </a:r>
            <a:endParaRPr lang="en-US" sz="1800" dirty="0"/>
          </a:p>
        </p:txBody>
      </p:sp>
      <p:sp>
        <p:nvSpPr>
          <p:cNvPr id="31" name="Text 28"/>
          <p:cNvSpPr/>
          <p:nvPr/>
        </p:nvSpPr>
        <p:spPr>
          <a:xfrm>
            <a:off x="6434667" y="3564467"/>
            <a:ext cx="2243667" cy="270087"/>
          </a:xfrm>
          <a:prstGeom prst="rect">
            <a:avLst/>
          </a:prstGeom>
          <a:noFill/>
          <a:ln/>
        </p:spPr>
        <p:txBody>
          <a:bodyPr wrap="square" lIns="0" tIns="0" rIns="0" bIns="0" rtlCol="0" anchor="t"/>
          <a:lstStyle/>
          <a:p>
            <a:pPr algn="l" indent="0" marL="0">
              <a:buNone/>
            </a:pPr>
            <a:r>
              <a:rPr lang="en-US" sz="1467" dirty="0">
                <a:solidFill>
                  <a:srgbClr val="F6F2E9"/>
                </a:solidFill>
                <a:latin typeface="DejaVu Sans" pitchFamily="34" charset="0"/>
                <a:ea typeface="DejaVu Sans" pitchFamily="34" charset="-122"/>
                <a:cs typeface="DejaVu Sans" pitchFamily="34" charset="-120"/>
              </a:rPr>
              <a:t>Soroban contract</a:t>
            </a:r>
            <a:endParaRPr lang="en-US" sz="1467" dirty="0"/>
          </a:p>
        </p:txBody>
      </p:sp>
      <p:sp>
        <p:nvSpPr>
          <p:cNvPr id="32" name="Text 29"/>
          <p:cNvSpPr/>
          <p:nvPr/>
        </p:nvSpPr>
        <p:spPr>
          <a:xfrm>
            <a:off x="6434667" y="3911600"/>
            <a:ext cx="2269067" cy="196427"/>
          </a:xfrm>
          <a:prstGeom prst="rect">
            <a:avLst/>
          </a:prstGeom>
          <a:noFill/>
          <a:ln/>
        </p:spPr>
        <p:txBody>
          <a:bodyPr wrap="square" lIns="0" tIns="0" rIns="0" bIns="0" rtlCol="0" anchor="t"/>
          <a:lstStyle/>
          <a:p>
            <a:pPr algn="l" indent="0" marL="0">
              <a:buNone/>
            </a:pPr>
            <a:r>
              <a:rPr lang="en-US" sz="1067" dirty="0">
                <a:solidFill>
                  <a:srgbClr val="DDA322"/>
                </a:solidFill>
                <a:latin typeface="DejaVu Sans" pitchFamily="34" charset="0"/>
                <a:ea typeface="DejaVu Sans" pitchFamily="34" charset="-122"/>
                <a:cs typeface="DejaVu Sans" pitchFamily="34" charset="-120"/>
              </a:rPr>
              <a:t>Assets · cap · expiry</a:t>
            </a:r>
            <a:endParaRPr lang="en-US" sz="1067" dirty="0"/>
          </a:p>
        </p:txBody>
      </p:sp>
      <p:sp>
        <p:nvSpPr>
          <p:cNvPr id="33" name="Shape 30"/>
          <p:cNvSpPr/>
          <p:nvPr/>
        </p:nvSpPr>
        <p:spPr>
          <a:xfrm>
            <a:off x="8830733" y="3462867"/>
            <a:ext cx="254000" cy="0"/>
          </a:xfrm>
          <a:prstGeom prst="line">
            <a:avLst/>
          </a:prstGeom>
          <a:noFill/>
          <a:ln w="16933">
            <a:solidFill>
              <a:srgbClr val="5C574E"/>
            </a:solidFill>
            <a:prstDash val="solid"/>
          </a:ln>
        </p:spPr>
      </p:sp>
      <p:sp>
        <p:nvSpPr>
          <p:cNvPr id="34" name="Shape 31"/>
          <p:cNvSpPr/>
          <p:nvPr/>
        </p:nvSpPr>
        <p:spPr>
          <a:xfrm>
            <a:off x="9008533" y="3403600"/>
            <a:ext cx="76200" cy="59267"/>
          </a:xfrm>
          <a:prstGeom prst="line">
            <a:avLst/>
          </a:prstGeom>
          <a:noFill/>
          <a:ln w="16933">
            <a:solidFill>
              <a:srgbClr val="5C574E"/>
            </a:solidFill>
            <a:prstDash val="solid"/>
          </a:ln>
        </p:spPr>
      </p:sp>
      <p:sp>
        <p:nvSpPr>
          <p:cNvPr id="35" name="Shape 32"/>
          <p:cNvSpPr/>
          <p:nvPr/>
        </p:nvSpPr>
        <p:spPr>
          <a:xfrm>
            <a:off x="9008533" y="3522133"/>
            <a:ext cx="76200" cy="-59267"/>
          </a:xfrm>
          <a:prstGeom prst="line">
            <a:avLst/>
          </a:prstGeom>
          <a:noFill/>
          <a:ln w="16933">
            <a:solidFill>
              <a:srgbClr val="5C574E"/>
            </a:solidFill>
            <a:prstDash val="solid"/>
          </a:ln>
        </p:spPr>
      </p:sp>
      <p:sp>
        <p:nvSpPr>
          <p:cNvPr id="36" name="Shape 33"/>
          <p:cNvSpPr/>
          <p:nvPr/>
        </p:nvSpPr>
        <p:spPr>
          <a:xfrm>
            <a:off x="9127067" y="2709333"/>
            <a:ext cx="2523067" cy="1557867"/>
          </a:xfrm>
          <a:prstGeom prst="rect">
            <a:avLst/>
          </a:prstGeom>
          <a:solidFill>
            <a:srgbClr val="F6F2E9"/>
          </a:solidFill>
          <a:ln w="12700">
            <a:solidFill>
              <a:srgbClr val="F6F2E9"/>
            </a:solidFill>
            <a:prstDash val="solid"/>
          </a:ln>
        </p:spPr>
      </p:sp>
      <p:sp>
        <p:nvSpPr>
          <p:cNvPr id="37" name="Text 34"/>
          <p:cNvSpPr/>
          <p:nvPr/>
        </p:nvSpPr>
        <p:spPr>
          <a:xfrm>
            <a:off x="9296400" y="2844800"/>
            <a:ext cx="592667" cy="233257"/>
          </a:xfrm>
          <a:prstGeom prst="rect">
            <a:avLst/>
          </a:prstGeom>
          <a:noFill/>
          <a:ln/>
        </p:spPr>
        <p:txBody>
          <a:bodyPr wrap="square" lIns="0" tIns="0" rIns="0" bIns="0" rtlCol="0" anchor="t"/>
          <a:lstStyle/>
          <a:p>
            <a:pPr algn="l" indent="0" marL="0">
              <a:buNone/>
            </a:pPr>
            <a:r>
              <a:rPr lang="en-US" sz="1267" b="1" dirty="0">
                <a:solidFill>
                  <a:srgbClr val="14795F"/>
                </a:solidFill>
                <a:latin typeface="DejaVu Sans" pitchFamily="34" charset="0"/>
                <a:ea typeface="DejaVu Sans" pitchFamily="34" charset="-122"/>
                <a:cs typeface="DejaVu Sans" pitchFamily="34" charset="-120"/>
              </a:rPr>
              <a:t>4</a:t>
            </a:r>
            <a:endParaRPr lang="en-US" sz="1267" dirty="0"/>
          </a:p>
        </p:txBody>
      </p:sp>
      <p:sp>
        <p:nvSpPr>
          <p:cNvPr id="38" name="Text 35"/>
          <p:cNvSpPr/>
          <p:nvPr/>
        </p:nvSpPr>
        <p:spPr>
          <a:xfrm>
            <a:off x="9296400" y="3183467"/>
            <a:ext cx="2243667" cy="331470"/>
          </a:xfrm>
          <a:prstGeom prst="rect">
            <a:avLst/>
          </a:prstGeom>
          <a:noFill/>
          <a:ln/>
        </p:spPr>
        <p:txBody>
          <a:bodyPr wrap="square" lIns="0" tIns="0" rIns="0" bIns="0" rtlCol="0" anchor="t"/>
          <a:lstStyle/>
          <a:p>
            <a:pPr algn="l" indent="0" marL="0">
              <a:buNone/>
            </a:pPr>
            <a:r>
              <a:rPr lang="en-US" sz="1800" b="1" dirty="0">
                <a:solidFill>
                  <a:srgbClr val="1A1815"/>
                </a:solidFill>
                <a:latin typeface="DejaVu Sans" pitchFamily="34" charset="0"/>
                <a:ea typeface="DejaVu Sans" pitchFamily="34" charset="-122"/>
                <a:cs typeface="DejaVu Sans" pitchFamily="34" charset="-120"/>
              </a:rPr>
              <a:t>Swap + return</a:t>
            </a:r>
            <a:endParaRPr lang="en-US" sz="1800" dirty="0"/>
          </a:p>
        </p:txBody>
      </p:sp>
      <p:sp>
        <p:nvSpPr>
          <p:cNvPr id="39" name="Text 36"/>
          <p:cNvSpPr/>
          <p:nvPr/>
        </p:nvSpPr>
        <p:spPr>
          <a:xfrm>
            <a:off x="9296400" y="3564467"/>
            <a:ext cx="2243667" cy="270087"/>
          </a:xfrm>
          <a:prstGeom prst="rect">
            <a:avLst/>
          </a:prstGeom>
          <a:noFill/>
          <a:ln/>
        </p:spPr>
        <p:txBody>
          <a:bodyPr wrap="square" lIns="0" tIns="0" rIns="0" bIns="0" rtlCol="0" anchor="t"/>
          <a:lstStyle/>
          <a:p>
            <a:pPr algn="l" indent="0" marL="0">
              <a:buNone/>
            </a:pPr>
            <a:r>
              <a:rPr lang="en-US" sz="1467" dirty="0">
                <a:solidFill>
                  <a:srgbClr val="1A1815"/>
                </a:solidFill>
                <a:latin typeface="DejaVu Sans" pitchFamily="34" charset="0"/>
                <a:ea typeface="DejaVu Sans" pitchFamily="34" charset="-122"/>
                <a:cs typeface="DejaVu Sans" pitchFamily="34" charset="-120"/>
              </a:rPr>
              <a:t>Soroswap router</a:t>
            </a:r>
            <a:endParaRPr lang="en-US" sz="1467" dirty="0"/>
          </a:p>
        </p:txBody>
      </p:sp>
      <p:sp>
        <p:nvSpPr>
          <p:cNvPr id="40" name="Text 37"/>
          <p:cNvSpPr/>
          <p:nvPr/>
        </p:nvSpPr>
        <p:spPr>
          <a:xfrm>
            <a:off x="9296400" y="3911600"/>
            <a:ext cx="2269067" cy="196427"/>
          </a:xfrm>
          <a:prstGeom prst="rect">
            <a:avLst/>
          </a:prstGeom>
          <a:noFill/>
          <a:ln/>
        </p:spPr>
        <p:txBody>
          <a:bodyPr wrap="square" lIns="0" tIns="0" rIns="0" bIns="0" rtlCol="0" anchor="t"/>
          <a:lstStyle/>
          <a:p>
            <a:pPr algn="l" indent="0" marL="0">
              <a:buNone/>
            </a:pPr>
            <a:r>
              <a:rPr lang="en-US" sz="1067" dirty="0">
                <a:solidFill>
                  <a:srgbClr val="5C574E"/>
                </a:solidFill>
                <a:latin typeface="DejaVu Sans" pitchFamily="34" charset="0"/>
                <a:ea typeface="DejaVu Sans" pitchFamily="34" charset="-122"/>
                <a:cs typeface="DejaVu Sans" pitchFamily="34" charset="-120"/>
              </a:rPr>
              <a:t>Output → owner</a:t>
            </a:r>
            <a:endParaRPr lang="en-US" sz="1067" dirty="0"/>
          </a:p>
        </p:txBody>
      </p:sp>
      <p:sp>
        <p:nvSpPr>
          <p:cNvPr id="41" name="Text 38"/>
          <p:cNvSpPr/>
          <p:nvPr/>
        </p:nvSpPr>
        <p:spPr>
          <a:xfrm>
            <a:off x="575733" y="4521200"/>
            <a:ext cx="11006667" cy="331470"/>
          </a:xfrm>
          <a:prstGeom prst="rect">
            <a:avLst/>
          </a:prstGeom>
          <a:noFill/>
          <a:ln/>
        </p:spPr>
        <p:txBody>
          <a:bodyPr wrap="square" lIns="0" tIns="0" rIns="0" bIns="0" rtlCol="0" anchor="t"/>
          <a:lstStyle/>
          <a:p>
            <a:pPr algn="l" indent="0" marL="0">
              <a:buNone/>
            </a:pPr>
            <a:r>
              <a:rPr lang="en-US" sz="1800" b="1" dirty="0">
                <a:solidFill>
                  <a:srgbClr val="1A1815"/>
                </a:solidFill>
                <a:latin typeface="DejaVu Sans" pitchFamily="34" charset="0"/>
                <a:ea typeface="DejaVu Sans" pitchFamily="34" charset="-122"/>
                <a:cs typeface="DejaVu Sans" pitchFamily="34" charset="-120"/>
              </a:rPr>
              <a:t>One atomic execution: pull funds → swap → return proceeds.</a:t>
            </a:r>
            <a:endParaRPr lang="en-US" sz="1800" dirty="0"/>
          </a:p>
        </p:txBody>
      </p:sp>
      <p:sp>
        <p:nvSpPr>
          <p:cNvPr id="42" name="Shape 39"/>
          <p:cNvSpPr/>
          <p:nvPr/>
        </p:nvSpPr>
        <p:spPr>
          <a:xfrm>
            <a:off x="541867" y="4986867"/>
            <a:ext cx="11108267" cy="0"/>
          </a:xfrm>
          <a:prstGeom prst="line">
            <a:avLst/>
          </a:prstGeom>
          <a:noFill/>
          <a:ln w="8467">
            <a:solidFill>
              <a:srgbClr val="5C574E"/>
            </a:solidFill>
            <a:prstDash val="solid"/>
          </a:ln>
        </p:spPr>
      </p:sp>
      <p:sp>
        <p:nvSpPr>
          <p:cNvPr id="43" name="Text 40"/>
          <p:cNvSpPr/>
          <p:nvPr/>
        </p:nvSpPr>
        <p:spPr>
          <a:xfrm>
            <a:off x="575733" y="5164667"/>
            <a:ext cx="1524000" cy="208703"/>
          </a:xfrm>
          <a:prstGeom prst="rect">
            <a:avLst/>
          </a:prstGeom>
          <a:noFill/>
          <a:ln/>
        </p:spPr>
        <p:txBody>
          <a:bodyPr wrap="square" lIns="0" tIns="0" rIns="0" bIns="0" rtlCol="0" anchor="t"/>
          <a:lstStyle/>
          <a:p>
            <a:pPr algn="l" indent="0" marL="0">
              <a:buNone/>
            </a:pPr>
            <a:r>
              <a:rPr lang="en-US" sz="1133" b="1" dirty="0">
                <a:solidFill>
                  <a:srgbClr val="14795F"/>
                </a:solidFill>
                <a:latin typeface="DejaVu Sans" pitchFamily="34" charset="0"/>
                <a:ea typeface="DejaVu Sans" pitchFamily="34" charset="-122"/>
                <a:cs typeface="DejaVu Sans" pitchFamily="34" charset="-120"/>
              </a:rPr>
              <a:t>TODAY</a:t>
            </a:r>
            <a:endParaRPr lang="en-US" sz="1133" dirty="0"/>
          </a:p>
        </p:txBody>
      </p:sp>
      <p:sp>
        <p:nvSpPr>
          <p:cNvPr id="44" name="Text 41"/>
          <p:cNvSpPr/>
          <p:nvPr/>
        </p:nvSpPr>
        <p:spPr>
          <a:xfrm>
            <a:off x="2184400" y="5122333"/>
            <a:ext cx="9313333" cy="306917"/>
          </a:xfrm>
          <a:prstGeom prst="rect">
            <a:avLst/>
          </a:prstGeom>
          <a:noFill/>
          <a:ln/>
        </p:spPr>
        <p:txBody>
          <a:bodyPr wrap="square" lIns="0" tIns="0" rIns="0" bIns="0" rtlCol="0" anchor="t"/>
          <a:lstStyle/>
          <a:p>
            <a:pPr algn="l" indent="0" marL="0">
              <a:buNone/>
            </a:pPr>
            <a:r>
              <a:rPr lang="en-US" sz="1667" dirty="0">
                <a:solidFill>
                  <a:srgbClr val="1A1815"/>
                </a:solidFill>
                <a:latin typeface="DejaVu Sans" pitchFamily="34" charset="0"/>
                <a:ea typeface="DejaVu Sans" pitchFamily="34" charset="-122"/>
                <a:cs typeface="DejaVu Sans" pitchFamily="34" charset="-120"/>
              </a:rPr>
              <a:t>Testnet • mock bank rail • open browser tab required</a:t>
            </a:r>
            <a:endParaRPr lang="en-US" sz="1667" dirty="0"/>
          </a:p>
        </p:txBody>
      </p:sp>
      <p:sp>
        <p:nvSpPr>
          <p:cNvPr id="45" name="Text 42"/>
          <p:cNvSpPr/>
          <p:nvPr/>
        </p:nvSpPr>
        <p:spPr>
          <a:xfrm>
            <a:off x="575733" y="5537200"/>
            <a:ext cx="1524000" cy="208703"/>
          </a:xfrm>
          <a:prstGeom prst="rect">
            <a:avLst/>
          </a:prstGeom>
          <a:noFill/>
          <a:ln/>
        </p:spPr>
        <p:txBody>
          <a:bodyPr wrap="square" lIns="0" tIns="0" rIns="0" bIns="0" rtlCol="0" anchor="t"/>
          <a:lstStyle/>
          <a:p>
            <a:pPr algn="l" indent="0" marL="0">
              <a:buNone/>
            </a:pPr>
            <a:r>
              <a:rPr lang="en-US" sz="1133" b="1" dirty="0">
                <a:solidFill>
                  <a:srgbClr val="14795F"/>
                </a:solidFill>
                <a:latin typeface="DejaVu Sans" pitchFamily="34" charset="0"/>
                <a:ea typeface="DejaVu Sans" pitchFamily="34" charset="-122"/>
                <a:cs typeface="DejaVu Sans" pitchFamily="34" charset="-120"/>
              </a:rPr>
              <a:t>SCOPE</a:t>
            </a:r>
            <a:endParaRPr lang="en-US" sz="1133" dirty="0"/>
          </a:p>
        </p:txBody>
      </p:sp>
      <p:sp>
        <p:nvSpPr>
          <p:cNvPr id="46" name="Text 43"/>
          <p:cNvSpPr/>
          <p:nvPr/>
        </p:nvSpPr>
        <p:spPr>
          <a:xfrm>
            <a:off x="2184400" y="5494867"/>
            <a:ext cx="9313333" cy="306917"/>
          </a:xfrm>
          <a:prstGeom prst="rect">
            <a:avLst/>
          </a:prstGeom>
          <a:noFill/>
          <a:ln/>
        </p:spPr>
        <p:txBody>
          <a:bodyPr wrap="square" lIns="0" tIns="0" rIns="0" bIns="0" rtlCol="0" anchor="t"/>
          <a:lstStyle/>
          <a:p>
            <a:pPr algn="l" indent="0" marL="0">
              <a:buNone/>
            </a:pPr>
            <a:r>
              <a:rPr lang="en-US" sz="1667" dirty="0">
                <a:solidFill>
                  <a:srgbClr val="1A1815"/>
                </a:solidFill>
                <a:latin typeface="DejaVu Sans" pitchFamily="34" charset="0"/>
                <a:ea typeface="DejaVu Sans" pitchFamily="34" charset="-122"/>
                <a:cs typeface="DejaVu Sans" pitchFamily="34" charset="-120"/>
              </a:rPr>
              <a:t>Mandate protection is active in portfolio mode.</a:t>
            </a:r>
            <a:endParaRPr lang="en-US" sz="1667" dirty="0"/>
          </a:p>
        </p:txBody>
      </p:sp>
      <p:sp>
        <p:nvSpPr>
          <p:cNvPr id="47" name="Text 44"/>
          <p:cNvSpPr/>
          <p:nvPr/>
        </p:nvSpPr>
        <p:spPr>
          <a:xfrm>
            <a:off x="575733" y="5909733"/>
            <a:ext cx="1524000" cy="208703"/>
          </a:xfrm>
          <a:prstGeom prst="rect">
            <a:avLst/>
          </a:prstGeom>
          <a:noFill/>
          <a:ln/>
        </p:spPr>
        <p:txBody>
          <a:bodyPr wrap="square" lIns="0" tIns="0" rIns="0" bIns="0" rtlCol="0" anchor="t"/>
          <a:lstStyle/>
          <a:p>
            <a:pPr algn="l" indent="0" marL="0">
              <a:buNone/>
            </a:pPr>
            <a:r>
              <a:rPr lang="en-US" sz="1133" b="1" dirty="0">
                <a:solidFill>
                  <a:srgbClr val="14795F"/>
                </a:solidFill>
                <a:latin typeface="DejaVu Sans" pitchFamily="34" charset="0"/>
                <a:ea typeface="DejaVu Sans" pitchFamily="34" charset="-122"/>
                <a:cs typeface="DejaVu Sans" pitchFamily="34" charset="-120"/>
              </a:rPr>
              <a:t>NEXT</a:t>
            </a:r>
            <a:endParaRPr lang="en-US" sz="1133" dirty="0"/>
          </a:p>
        </p:txBody>
      </p:sp>
      <p:sp>
        <p:nvSpPr>
          <p:cNvPr id="48" name="Text 45"/>
          <p:cNvSpPr/>
          <p:nvPr/>
        </p:nvSpPr>
        <p:spPr>
          <a:xfrm>
            <a:off x="2184400" y="5867400"/>
            <a:ext cx="9313333" cy="306917"/>
          </a:xfrm>
          <a:prstGeom prst="rect">
            <a:avLst/>
          </a:prstGeom>
          <a:noFill/>
          <a:ln/>
        </p:spPr>
        <p:txBody>
          <a:bodyPr wrap="square" lIns="0" tIns="0" rIns="0" bIns="0" rtlCol="0" anchor="t"/>
          <a:lstStyle/>
          <a:p>
            <a:pPr algn="l" indent="0" marL="0">
              <a:buNone/>
            </a:pPr>
            <a:r>
              <a:rPr lang="en-US" sz="1667" dirty="0">
                <a:solidFill>
                  <a:srgbClr val="1A1815"/>
                </a:solidFill>
                <a:latin typeface="DejaVu Sans" pitchFamily="34" charset="0"/>
                <a:ea typeface="DejaVu Sans" pitchFamily="34" charset="-122"/>
                <a:cs typeface="DejaVu Sans" pitchFamily="34" charset="-120"/>
              </a:rPr>
              <a:t>Background execution + production anchor integration</a:t>
            </a:r>
            <a:endParaRPr lang="en-US" sz="166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7E2D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E7E2D6"/>
          </a:solidFill>
          <a:ln w="12700">
            <a:solidFill>
              <a:srgbClr val="E7E2D6"/>
            </a:solidFill>
            <a:prstDash val="solid"/>
          </a:ln>
        </p:spPr>
      </p:sp>
      <p:pic>
        <p:nvPicPr>
          <p:cNvPr id="3" name="Image 0" descr="/home/murat/conduit/docs/pitch/assets/template-paper.png">    </p:cNvPr>
          <p:cNvPicPr>
            <a:picLocks noChangeAspect="1"/>
          </p:cNvPicPr>
          <p:nvPr/>
        </p:nvPicPr>
        <p:blipFill>
          <a:blip r:embed="rId1"/>
          <a:stretch>
            <a:fillRect/>
          </a:stretch>
        </p:blipFill>
        <p:spPr>
          <a:xfrm>
            <a:off x="0" y="0"/>
            <a:ext cx="12192000" cy="6858000"/>
          </a:xfrm>
          <a:prstGeom prst="rect">
            <a:avLst/>
          </a:prstGeom>
        </p:spPr>
      </p:pic>
      <p:sp>
        <p:nvSpPr>
          <p:cNvPr id="4" name="Text 1"/>
          <p:cNvSpPr/>
          <p:nvPr/>
        </p:nvSpPr>
        <p:spPr>
          <a:xfrm>
            <a:off x="541867" y="262467"/>
            <a:ext cx="2540000" cy="220980"/>
          </a:xfrm>
          <a:prstGeom prst="rect">
            <a:avLst/>
          </a:prstGeom>
          <a:noFill/>
          <a:ln/>
        </p:spPr>
        <p:txBody>
          <a:bodyPr wrap="square" lIns="0" tIns="0" rIns="0" bIns="0" rtlCol="0" anchor="t"/>
          <a:lstStyle/>
          <a:p>
            <a:pPr algn="l" indent="0" marL="0">
              <a:buNone/>
            </a:pPr>
            <a:r>
              <a:rPr lang="en-US" sz="1200" b="1" dirty="0">
                <a:solidFill>
                  <a:srgbClr val="1A1815"/>
                </a:solidFill>
                <a:latin typeface="DejaVu Sans" pitchFamily="34" charset="0"/>
                <a:ea typeface="DejaVu Sans" pitchFamily="34" charset="-122"/>
                <a:cs typeface="DejaVu Sans" pitchFamily="34" charset="-120"/>
              </a:rPr>
              <a:t>CONDUIT</a:t>
            </a:r>
            <a:endParaRPr lang="en-US" sz="1200" dirty="0"/>
          </a:p>
        </p:txBody>
      </p:sp>
      <p:sp>
        <p:nvSpPr>
          <p:cNvPr id="5" name="Text 2"/>
          <p:cNvSpPr/>
          <p:nvPr/>
        </p:nvSpPr>
        <p:spPr>
          <a:xfrm>
            <a:off x="7450667" y="279400"/>
            <a:ext cx="4199467" cy="196427"/>
          </a:xfrm>
          <a:prstGeom prst="rect">
            <a:avLst/>
          </a:prstGeom>
          <a:noFill/>
          <a:ln/>
        </p:spPr>
        <p:txBody>
          <a:bodyPr wrap="square" lIns="0" tIns="0" rIns="0" bIns="0" rtlCol="0" anchor="t"/>
          <a:lstStyle/>
          <a:p>
            <a:pPr algn="r" indent="0" marL="0">
              <a:buNone/>
            </a:pPr>
            <a:r>
              <a:rPr lang="en-US" sz="1067" dirty="0">
                <a:solidFill>
                  <a:srgbClr val="1A1815"/>
                </a:solidFill>
                <a:latin typeface="DejaVu Sans" pitchFamily="34" charset="0"/>
                <a:ea typeface="DejaVu Sans" pitchFamily="34" charset="-122"/>
                <a:cs typeface="DejaVu Sans" pitchFamily="34" charset="-120"/>
              </a:rPr>
              <a:t>BUILD ON STELLAR  /  HACKATHON</a:t>
            </a:r>
            <a:endParaRPr lang="en-US" sz="1067" dirty="0"/>
          </a:p>
        </p:txBody>
      </p:sp>
      <p:sp>
        <p:nvSpPr>
          <p:cNvPr id="6" name="Shape 3"/>
          <p:cNvSpPr/>
          <p:nvPr/>
        </p:nvSpPr>
        <p:spPr>
          <a:xfrm>
            <a:off x="541867" y="812800"/>
            <a:ext cx="11108267" cy="778933"/>
          </a:xfrm>
          <a:prstGeom prst="rect">
            <a:avLst/>
          </a:prstGeom>
          <a:solidFill>
            <a:srgbClr val="DDA322"/>
          </a:solidFill>
          <a:ln w="12700">
            <a:solidFill>
              <a:srgbClr val="DDA322"/>
            </a:solidFill>
            <a:prstDash val="solid"/>
          </a:ln>
        </p:spPr>
      </p:sp>
      <p:sp>
        <p:nvSpPr>
          <p:cNvPr id="7" name="Text 4"/>
          <p:cNvSpPr/>
          <p:nvPr/>
        </p:nvSpPr>
        <p:spPr>
          <a:xfrm>
            <a:off x="711200" y="880533"/>
            <a:ext cx="10668000" cy="675217"/>
          </a:xfrm>
          <a:prstGeom prst="rect">
            <a:avLst/>
          </a:prstGeom>
          <a:noFill/>
          <a:ln/>
        </p:spPr>
        <p:txBody>
          <a:bodyPr wrap="square" lIns="0" tIns="0" rIns="0" bIns="0" rtlCol="0" anchor="t"/>
          <a:lstStyle/>
          <a:p>
            <a:pPr algn="l" indent="0" marL="0">
              <a:buNone/>
            </a:pPr>
            <a:r>
              <a:rPr lang="en-US" sz="3667" b="1" dirty="0">
                <a:solidFill>
                  <a:srgbClr val="1A1815"/>
                </a:solidFill>
                <a:latin typeface="DejaVu Sans" pitchFamily="34" charset="0"/>
                <a:ea typeface="DejaVu Sans" pitchFamily="34" charset="-122"/>
                <a:cs typeface="DejaVu Sans" pitchFamily="34" charset="-120"/>
              </a:rPr>
              <a:t>THE TEAM</a:t>
            </a:r>
            <a:endParaRPr lang="en-US" sz="3667" dirty="0"/>
          </a:p>
        </p:txBody>
      </p:sp>
      <p:sp>
        <p:nvSpPr>
          <p:cNvPr id="8" name="Shape 5"/>
          <p:cNvSpPr/>
          <p:nvPr/>
        </p:nvSpPr>
        <p:spPr>
          <a:xfrm>
            <a:off x="541867" y="6316133"/>
            <a:ext cx="11108267" cy="0"/>
          </a:xfrm>
          <a:prstGeom prst="line">
            <a:avLst/>
          </a:prstGeom>
          <a:noFill/>
          <a:ln w="6773">
            <a:solidFill>
              <a:srgbClr val="5C574E"/>
            </a:solidFill>
            <a:prstDash val="solid"/>
          </a:ln>
        </p:spPr>
      </p:sp>
      <p:sp>
        <p:nvSpPr>
          <p:cNvPr id="9" name="Text 6"/>
          <p:cNvSpPr/>
          <p:nvPr/>
        </p:nvSpPr>
        <p:spPr>
          <a:xfrm>
            <a:off x="541867" y="6468533"/>
            <a:ext cx="5503333" cy="171873"/>
          </a:xfrm>
          <a:prstGeom prst="rect">
            <a:avLst/>
          </a:prstGeom>
          <a:noFill/>
          <a:ln/>
        </p:spPr>
        <p:txBody>
          <a:bodyPr wrap="square" lIns="0" tIns="0" rIns="0" bIns="0" rtlCol="0" anchor="t"/>
          <a:lstStyle/>
          <a:p>
            <a:pPr algn="l" indent="0" marL="0">
              <a:buNone/>
            </a:pPr>
            <a:r>
              <a:rPr lang="en-US" sz="933" dirty="0">
                <a:solidFill>
                  <a:srgbClr val="5C574E"/>
                </a:solidFill>
                <a:latin typeface="DejaVu Sans" pitchFamily="34" charset="0"/>
                <a:ea typeface="DejaVu Sans" pitchFamily="34" charset="-122"/>
                <a:cs typeface="DejaVu Sans" pitchFamily="34" charset="-120"/>
              </a:rPr>
              <a:t>THE TEAM</a:t>
            </a:r>
            <a:endParaRPr lang="en-US" sz="933" dirty="0"/>
          </a:p>
        </p:txBody>
      </p:sp>
      <p:sp>
        <p:nvSpPr>
          <p:cNvPr id="10" name="Text 7"/>
          <p:cNvSpPr/>
          <p:nvPr/>
        </p:nvSpPr>
        <p:spPr>
          <a:xfrm>
            <a:off x="8940800" y="6468533"/>
            <a:ext cx="2709333" cy="171873"/>
          </a:xfrm>
          <a:prstGeom prst="rect">
            <a:avLst/>
          </a:prstGeom>
          <a:noFill/>
          <a:ln/>
        </p:spPr>
        <p:txBody>
          <a:bodyPr wrap="square" lIns="0" tIns="0" rIns="0" bIns="0" rtlCol="0" anchor="t"/>
          <a:lstStyle/>
          <a:p>
            <a:pPr algn="r" indent="0" marL="0">
              <a:buNone/>
            </a:pPr>
            <a:r>
              <a:rPr lang="en-US" sz="933" dirty="0">
                <a:solidFill>
                  <a:srgbClr val="5C574E"/>
                </a:solidFill>
                <a:latin typeface="DejaVu Sans" pitchFamily="34" charset="0"/>
                <a:ea typeface="DejaVu Sans" pitchFamily="34" charset="-122"/>
                <a:cs typeface="DejaVu Sans" pitchFamily="34" charset="-120"/>
              </a:rPr>
              <a:t>STELLAR TESTNET   /   05</a:t>
            </a:r>
            <a:endParaRPr lang="en-US" sz="933" dirty="0"/>
          </a:p>
        </p:txBody>
      </p:sp>
      <p:sp>
        <p:nvSpPr>
          <p:cNvPr id="11" name="Shape 8"/>
          <p:cNvSpPr/>
          <p:nvPr/>
        </p:nvSpPr>
        <p:spPr>
          <a:xfrm>
            <a:off x="541867" y="2040467"/>
            <a:ext cx="1778000" cy="1778000"/>
          </a:xfrm>
          <a:prstGeom prst="rect">
            <a:avLst/>
          </a:prstGeom>
          <a:solidFill>
            <a:srgbClr val="1A1815"/>
          </a:solidFill>
          <a:ln w="12700">
            <a:solidFill>
              <a:srgbClr val="1A1815"/>
            </a:solidFill>
            <a:prstDash val="solid"/>
          </a:ln>
        </p:spPr>
      </p:sp>
      <p:sp>
        <p:nvSpPr>
          <p:cNvPr id="12" name="Text 9"/>
          <p:cNvSpPr/>
          <p:nvPr/>
        </p:nvSpPr>
        <p:spPr>
          <a:xfrm>
            <a:off x="626533" y="2438400"/>
            <a:ext cx="1608667" cy="948267"/>
          </a:xfrm>
          <a:prstGeom prst="rect">
            <a:avLst/>
          </a:prstGeom>
          <a:noFill/>
          <a:ln/>
        </p:spPr>
        <p:txBody>
          <a:bodyPr wrap="square" lIns="0" tIns="0" rIns="0" bIns="0" rtlCol="0" anchor="t"/>
          <a:lstStyle/>
          <a:p>
            <a:pPr algn="ctr" indent="0" marL="0">
              <a:buNone/>
            </a:pPr>
            <a:r>
              <a:rPr lang="en-US" sz="5533" b="1" dirty="0">
                <a:solidFill>
                  <a:srgbClr val="DDA322"/>
                </a:solidFill>
                <a:latin typeface="DejaVu Sans" pitchFamily="34" charset="0"/>
                <a:ea typeface="DejaVu Sans" pitchFamily="34" charset="-122"/>
                <a:cs typeface="DejaVu Sans" pitchFamily="34" charset="-120"/>
              </a:rPr>
              <a:t>MK</a:t>
            </a:r>
            <a:endParaRPr lang="en-US" sz="5533" dirty="0"/>
          </a:p>
        </p:txBody>
      </p:sp>
      <p:sp>
        <p:nvSpPr>
          <p:cNvPr id="13" name="Text 10"/>
          <p:cNvSpPr/>
          <p:nvPr/>
        </p:nvSpPr>
        <p:spPr>
          <a:xfrm>
            <a:off x="2692400" y="2133600"/>
            <a:ext cx="8466667" cy="626110"/>
          </a:xfrm>
          <a:prstGeom prst="rect">
            <a:avLst/>
          </a:prstGeom>
          <a:noFill/>
          <a:ln/>
        </p:spPr>
        <p:txBody>
          <a:bodyPr wrap="square" lIns="0" tIns="0" rIns="0" bIns="0" rtlCol="0" anchor="t"/>
          <a:lstStyle/>
          <a:p>
            <a:pPr algn="l" indent="0" marL="0">
              <a:buNone/>
            </a:pPr>
            <a:r>
              <a:rPr lang="en-US" sz="3400" b="1" dirty="0">
                <a:solidFill>
                  <a:srgbClr val="1A1815"/>
                </a:solidFill>
                <a:latin typeface="DejaVu Sans" pitchFamily="34" charset="0"/>
                <a:ea typeface="DejaVu Sans" pitchFamily="34" charset="-122"/>
                <a:cs typeface="DejaVu Sans" pitchFamily="34" charset="-120"/>
              </a:rPr>
              <a:t>Murat Keskin</a:t>
            </a:r>
            <a:endParaRPr lang="en-US" sz="3400" dirty="0"/>
          </a:p>
        </p:txBody>
      </p:sp>
      <p:sp>
        <p:nvSpPr>
          <p:cNvPr id="14" name="Text 11"/>
          <p:cNvSpPr/>
          <p:nvPr/>
        </p:nvSpPr>
        <p:spPr>
          <a:xfrm>
            <a:off x="2709333" y="2810933"/>
            <a:ext cx="8466667" cy="343747"/>
          </a:xfrm>
          <a:prstGeom prst="rect">
            <a:avLst/>
          </a:prstGeom>
          <a:noFill/>
          <a:ln/>
        </p:spPr>
        <p:txBody>
          <a:bodyPr wrap="square" lIns="0" tIns="0" rIns="0" bIns="0" rtlCol="0" anchor="t"/>
          <a:lstStyle/>
          <a:p>
            <a:pPr algn="l" indent="0" marL="0">
              <a:buNone/>
            </a:pPr>
            <a:r>
              <a:rPr lang="en-US" sz="1867" dirty="0">
                <a:solidFill>
                  <a:srgbClr val="1A1815"/>
                </a:solidFill>
                <a:latin typeface="DejaVu Sans" pitchFamily="34" charset="0"/>
                <a:ea typeface="DejaVu Sans" pitchFamily="34" charset="-122"/>
                <a:cs typeface="DejaVu Sans" pitchFamily="34" charset="-120"/>
              </a:rPr>
              <a:t>Project author / full-stack development</a:t>
            </a:r>
            <a:endParaRPr lang="en-US" sz="1867" dirty="0"/>
          </a:p>
        </p:txBody>
      </p:sp>
      <p:sp>
        <p:nvSpPr>
          <p:cNvPr id="15" name="Text 12"/>
          <p:cNvSpPr/>
          <p:nvPr/>
        </p:nvSpPr>
        <p:spPr>
          <a:xfrm>
            <a:off x="2709333" y="3234267"/>
            <a:ext cx="8805333" cy="306917"/>
          </a:xfrm>
          <a:prstGeom prst="rect">
            <a:avLst/>
          </a:prstGeom>
          <a:noFill/>
          <a:ln/>
        </p:spPr>
        <p:txBody>
          <a:bodyPr wrap="square" lIns="0" tIns="0" rIns="0" bIns="0" rtlCol="0" anchor="t"/>
          <a:lstStyle/>
          <a:p>
            <a:pPr algn="l" indent="0" marL="0">
              <a:buNone/>
            </a:pPr>
            <a:r>
              <a:rPr lang="en-US" sz="1667" dirty="0">
                <a:solidFill>
                  <a:srgbClr val="5C574E"/>
                </a:solidFill>
                <a:latin typeface="DejaVu Sans" pitchFamily="34" charset="0"/>
                <a:ea typeface="DejaVu Sans" pitchFamily="34" charset="-122"/>
                <a:cs typeface="DejaVu Sans" pitchFamily="34" charset="-120"/>
              </a:rPr>
              <a:t>Soroban contract · Stellar integration · product interface</a:t>
            </a:r>
            <a:endParaRPr lang="en-US" sz="1667" dirty="0"/>
          </a:p>
        </p:txBody>
      </p:sp>
      <p:sp>
        <p:nvSpPr>
          <p:cNvPr id="16" name="Text 13"/>
          <p:cNvSpPr/>
          <p:nvPr/>
        </p:nvSpPr>
        <p:spPr>
          <a:xfrm>
            <a:off x="575733" y="4241800"/>
            <a:ext cx="10922000" cy="454237"/>
          </a:xfrm>
          <a:prstGeom prst="rect">
            <a:avLst/>
          </a:prstGeom>
          <a:noFill/>
          <a:ln/>
        </p:spPr>
        <p:txBody>
          <a:bodyPr wrap="square" lIns="0" tIns="0" rIns="0" bIns="0" rtlCol="0" anchor="t"/>
          <a:lstStyle/>
          <a:p>
            <a:pPr algn="l" indent="0" marL="0">
              <a:buNone/>
            </a:pPr>
            <a:r>
              <a:rPr lang="en-US" sz="2467" b="1" dirty="0">
                <a:solidFill>
                  <a:srgbClr val="1A1815"/>
                </a:solidFill>
                <a:latin typeface="DejaVu Sans" pitchFamily="34" charset="0"/>
                <a:ea typeface="DejaVu Sans" pitchFamily="34" charset="-122"/>
                <a:cs typeface="DejaVu Sans" pitchFamily="34" charset="-120"/>
              </a:rPr>
              <a:t>Built from the rule engine to the on-chain mandate.</a:t>
            </a:r>
            <a:endParaRPr lang="en-US" sz="2467" dirty="0"/>
          </a:p>
        </p:txBody>
      </p:sp>
      <p:sp>
        <p:nvSpPr>
          <p:cNvPr id="17" name="Text 14"/>
          <p:cNvSpPr/>
          <p:nvPr/>
        </p:nvSpPr>
        <p:spPr>
          <a:xfrm>
            <a:off x="575733" y="4953000"/>
            <a:ext cx="10922000" cy="208703"/>
          </a:xfrm>
          <a:prstGeom prst="rect">
            <a:avLst/>
          </a:prstGeom>
          <a:noFill/>
          <a:ln/>
        </p:spPr>
        <p:txBody>
          <a:bodyPr wrap="square" lIns="0" tIns="0" rIns="0" bIns="0" rtlCol="0" anchor="t"/>
          <a:lstStyle/>
          <a:p>
            <a:pPr algn="l" indent="0" marL="0">
              <a:buNone/>
            </a:pPr>
            <a:r>
              <a:rPr lang="en-US" sz="1133" b="1" dirty="0">
                <a:solidFill>
                  <a:srgbClr val="14795F"/>
                </a:solidFill>
                <a:latin typeface="DejaVu Sans" pitchFamily="34" charset="0"/>
                <a:ea typeface="DejaVu Sans" pitchFamily="34" charset="-122"/>
                <a:cs typeface="DejaVu Sans" pitchFamily="34" charset="-120"/>
              </a:rPr>
              <a:t>NEXT MILESTONE</a:t>
            </a:r>
            <a:endParaRPr lang="en-US" sz="1133" dirty="0"/>
          </a:p>
        </p:txBody>
      </p:sp>
      <p:sp>
        <p:nvSpPr>
          <p:cNvPr id="18" name="Text 15"/>
          <p:cNvSpPr/>
          <p:nvPr/>
        </p:nvSpPr>
        <p:spPr>
          <a:xfrm>
            <a:off x="575733" y="5223933"/>
            <a:ext cx="11006667" cy="356023"/>
          </a:xfrm>
          <a:prstGeom prst="rect">
            <a:avLst/>
          </a:prstGeom>
          <a:noFill/>
          <a:ln/>
        </p:spPr>
        <p:txBody>
          <a:bodyPr wrap="square" lIns="0" tIns="0" rIns="0" bIns="0" rtlCol="0" anchor="t"/>
          <a:lstStyle/>
          <a:p>
            <a:pPr algn="l" indent="0" marL="0">
              <a:buNone/>
            </a:pPr>
            <a:r>
              <a:rPr lang="en-US" sz="1933" b="1" dirty="0">
                <a:solidFill>
                  <a:srgbClr val="1A1815"/>
                </a:solidFill>
                <a:latin typeface="DejaVu Sans" pitchFamily="34" charset="0"/>
                <a:ea typeface="DejaVu Sans" pitchFamily="34" charset="-122"/>
                <a:cs typeface="DejaVu Sans" pitchFamily="34" charset="-120"/>
              </a:rPr>
              <a:t>Validate recurring use. Bring the rail to a production anchor.</a:t>
            </a:r>
            <a:endParaRPr lang="en-US" sz="1933" dirty="0"/>
          </a:p>
        </p:txBody>
      </p:sp>
      <p:sp>
        <p:nvSpPr>
          <p:cNvPr id="19" name="Text 16"/>
          <p:cNvSpPr/>
          <p:nvPr/>
        </p:nvSpPr>
        <p:spPr>
          <a:xfrm>
            <a:off x="575733" y="5850467"/>
            <a:ext cx="2963333" cy="208703"/>
          </a:xfrm>
          <a:prstGeom prst="rect">
            <a:avLst/>
          </a:prstGeom>
          <a:noFill/>
          <a:ln/>
        </p:spPr>
        <p:txBody>
          <a:bodyPr wrap="square" lIns="0" tIns="0" rIns="0" bIns="0" rtlCol="0" anchor="t"/>
          <a:lstStyle/>
          <a:p>
            <a:pPr algn="l" indent="0" marL="0">
              <a:buNone/>
            </a:pPr>
            <a:r>
              <a:rPr lang="en-US" sz="1133" b="1" dirty="0">
                <a:solidFill>
                  <a:srgbClr val="1A1815"/>
                </a:solidFill>
                <a:latin typeface="DejaVu Sans" pitchFamily="34" charset="0"/>
                <a:ea typeface="DejaVu Sans" pitchFamily="34" charset="-122"/>
                <a:cs typeface="DejaVu Sans" pitchFamily="34" charset="-120"/>
              </a:rPr>
              <a:t>TRY THE TESTNET DEMO</a:t>
            </a:r>
            <a:endParaRPr lang="en-US" sz="1133" dirty="0"/>
          </a:p>
        </p:txBody>
      </p:sp>
      <p:sp>
        <p:nvSpPr>
          <p:cNvPr id="20" name="Text 17">
            <a:hlinkClick r:id="rId2" tooltip=""/>
          </p:cNvPr>
          <p:cNvSpPr/>
          <p:nvPr/>
        </p:nvSpPr>
        <p:spPr>
          <a:xfrm>
            <a:off x="3894667" y="5782733"/>
            <a:ext cx="5164667" cy="282363"/>
          </a:xfrm>
          <a:prstGeom prst="rect">
            <a:avLst/>
          </a:prstGeom>
          <a:noFill/>
          <a:ln/>
        </p:spPr>
        <p:txBody>
          <a:bodyPr wrap="square" lIns="0" tIns="0" rIns="0" bIns="0" rtlCol="0" anchor="t"/>
          <a:lstStyle/>
          <a:p>
            <a:pPr algn="l" indent="0" marL="0">
              <a:buNone/>
            </a:pPr>
            <a:r>
              <a:rPr lang="en-US" sz="1533" u="sng" dirty="0">
                <a:solidFill>
                  <a:srgbClr val="1A1815"/>
                </a:solidFill>
                <a:latin typeface="DejaVu Sans" pitchFamily="34" charset="0"/>
                <a:ea typeface="DejaVu Sans" pitchFamily="34" charset="-122"/>
                <a:cs typeface="DejaVu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conduit-psi-three.vercel.app</a:t>
            </a:r>
            <a:endParaRPr lang="en-US" sz="1533" dirty="0"/>
          </a:p>
        </p:txBody>
      </p:sp>
      <p:sp>
        <p:nvSpPr>
          <p:cNvPr id="21" name="Text 18">
            <a:hlinkClick r:id="rId3" tooltip=""/>
          </p:cNvPr>
          <p:cNvSpPr/>
          <p:nvPr/>
        </p:nvSpPr>
        <p:spPr>
          <a:xfrm>
            <a:off x="10134600" y="5782733"/>
            <a:ext cx="1515533" cy="282363"/>
          </a:xfrm>
          <a:prstGeom prst="rect">
            <a:avLst/>
          </a:prstGeom>
          <a:noFill/>
          <a:ln/>
        </p:spPr>
        <p:txBody>
          <a:bodyPr wrap="square" lIns="0" tIns="0" rIns="0" bIns="0" rtlCol="0" anchor="t"/>
          <a:lstStyle/>
          <a:p>
            <a:pPr algn="r" indent="0" marL="0">
              <a:buNone/>
            </a:pPr>
            <a:r>
              <a:rPr lang="en-US" sz="1533" u="sng" dirty="0">
                <a:solidFill>
                  <a:srgbClr val="1A1815"/>
                </a:solidFill>
                <a:latin typeface="DejaVu Sans" pitchFamily="34" charset="0"/>
                <a:ea typeface="DejaVu Sans" pitchFamily="34" charset="-122"/>
                <a:cs typeface="DejaVu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 ↗</a:t>
            </a:r>
            <a:endParaRPr lang="en-US" sz="153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jaVu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ejaVu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Conduit — A programmable TRY–Stellar rail</dc:title>
  <dc:subject>Build on Stellar Hackathon</dc:subject>
  <dc:creator>Conduit</dc:creator>
  <cp:lastModifiedBy>Conduit</cp:lastModifiedBy>
  <cp:revision>1</cp:revision>
  <dcterms:created xsi:type="dcterms:W3CDTF">2026-09-19T22:05:01Z</dcterms:created>
  <dcterms:modified xsi:type="dcterms:W3CDTF">2026-09-19T22:05:01Z</dcterms:modified>
</cp:coreProperties>
</file>